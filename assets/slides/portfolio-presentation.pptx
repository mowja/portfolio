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65" r:id="rId2"/>
    <p:sldId id="277" r:id="rId3"/>
    <p:sldId id="267" r:id="rId4"/>
    <p:sldId id="274" r:id="rId5"/>
    <p:sldId id="268" r:id="rId6"/>
  </p:sldIdLst>
  <p:sldSz cx="24384000" cy="13716000"/>
  <p:notesSz cx="6858000" cy="9144000"/>
  <p:embeddedFontLst>
    <p:embeddedFont>
      <p:font typeface="Gmarket Sans Bold" panose="020B0600000101010101" charset="-127"/>
      <p:bold r:id="rId8"/>
    </p:embeddedFont>
    <p:embeddedFont>
      <p:font typeface="Gmarket Sans Medium" panose="020B0600000101010101" charset="-127"/>
      <p:regular r:id="rId9"/>
    </p:embeddedFont>
    <p:embeddedFont>
      <p:font typeface="Arial Narrow" panose="020B0606020202030204" pitchFamily="34" charset="0"/>
      <p:regular r:id="rId10"/>
      <p:bold r:id="rId11"/>
      <p:italic r:id="rId12"/>
      <p:boldItalic r:id="rId13"/>
    </p:embeddedFont>
    <p:embeddedFont>
      <p:font typeface="G마켓 산스 Light" panose="02000000000000000000" pitchFamily="50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3E8"/>
    <a:srgbClr val="FFFFFF"/>
    <a:srgbClr val="2A49E8"/>
    <a:srgbClr val="E7F6F2"/>
    <a:srgbClr val="8CC0DE"/>
    <a:srgbClr val="9A1F40"/>
    <a:srgbClr val="1A1423"/>
    <a:srgbClr val="1B2430"/>
    <a:srgbClr val="3FA79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7" autoAdjust="0"/>
    <p:restoredTop sz="94346" autoAdjust="0"/>
  </p:normalViewPr>
  <p:slideViewPr>
    <p:cSldViewPr>
      <p:cViewPr varScale="1">
        <p:scale>
          <a:sx n="45" d="100"/>
          <a:sy n="45" d="100"/>
        </p:scale>
        <p:origin x="30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85F88-F4EE-4B13-82A4-B1D09AD44A3D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42A71-597E-4F74-BA0F-8B16CE71C2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80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42A71-597E-4F74-BA0F-8B16CE71C2E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152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6606C-A5EB-C251-B4BE-53FB0CA6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C5F814-41EA-AA73-E268-EF355BAF9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A48FED-9096-D4F4-FAE0-F9FDAB3DE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65C848-D152-6FCC-DE3B-942DDC5D7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42A71-597E-4F74-BA0F-8B16CE71C2E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213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42A71-597E-4F74-BA0F-8B16CE71C2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61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drive.google.com/file/d/1cAZWC1-Cpg1cop3WmYboZ9vbZI2SBr8W/view?usp=drive_link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drive.google.com/file/d/1Dtvzrz7i3wamh5MTckE5DVbr2vbJeX-s/view?usp=drive_li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hyperlink" Target="https://drive.google.com/file/d/1Dtvzrz7i3wamh5MTckE5DVbr2vbJeX-s/view?usp=drive_link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53616-1B91-A9C3-2971-002FAD5B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76C2D5D-F295-3733-D470-AC199571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1358900"/>
            <a:ext cx="7848600" cy="10998200"/>
          </a:xfrm>
          <a:prstGeom prst="rect">
            <a:avLst/>
          </a:prstGeom>
          <a:effectLst>
            <a:outerShdw blurRad="392118" dist="301629" dir="2700000">
              <a:srgbClr val="000000">
                <a:alpha val="26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1D6A9CB-E281-FE9D-FB23-7545E78050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9937750" y="1562100"/>
            <a:ext cx="3517900" cy="4826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31E92FC-6ADE-6CEF-F7F0-44699A16D997}"/>
              </a:ext>
            </a:extLst>
          </p:cNvPr>
          <p:cNvSpPr txBox="1"/>
          <p:nvPr/>
        </p:nvSpPr>
        <p:spPr>
          <a:xfrm>
            <a:off x="10058400" y="2174921"/>
            <a:ext cx="5232400" cy="1800000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</a:t>
            </a:r>
            <a:r>
              <a:rPr kumimoji="0" lang="en-US" altLang="ko-KR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맑은 고딕" panose="020B0503020000020004" pitchFamily="50" charset="-127"/>
                <a:cs typeface="+mn-cs"/>
              </a:rPr>
              <a:t>25.02  </a:t>
            </a:r>
            <a:r>
              <a:rPr kumimoji="0" lang="ko-KR" alt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강원</a:t>
            </a:r>
            <a:r>
              <a:rPr kumimoji="0" lang="ko-KR" altLang="ko-KR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대학교</a:t>
            </a:r>
            <a:r>
              <a:rPr kumimoji="0" lang="ko-KR" alt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 </a:t>
            </a:r>
            <a:r>
              <a:rPr kumimoji="0" lang="en-US" altLang="ko-KR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졸업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</a:t>
            </a:r>
            <a:r>
              <a:rPr kumimoji="0" lang="en-US" altLang="ko-KR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맑은 고딕" panose="020B0503020000020004" pitchFamily="50" charset="-127"/>
                <a:cs typeface="+mn-cs"/>
              </a:rPr>
              <a:t>19.03   </a:t>
            </a:r>
            <a:r>
              <a:rPr kumimoji="0" lang="ko-KR" alt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강원</a:t>
            </a:r>
            <a:r>
              <a:rPr kumimoji="0" lang="ko-KR" altLang="ko-KR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대학교</a:t>
            </a:r>
            <a:r>
              <a:rPr kumimoji="0" lang="en-US" altLang="ko-KR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2399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입학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</a:t>
            </a:r>
            <a:r>
              <a:rPr kumimoji="0" lang="en-US" altLang="ko-KR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맑은 고딕" panose="020B0503020000020004" pitchFamily="50" charset="-127"/>
                <a:cs typeface="+mn-cs"/>
              </a:rPr>
              <a:t>19.02   </a:t>
            </a:r>
            <a:r>
              <a:rPr kumimoji="0" lang="ko-KR" alt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진접</a:t>
            </a:r>
            <a:r>
              <a:rPr kumimoji="0" lang="ko-KR" altLang="ko-KR" sz="2399" b="0" i="0" u="none" strike="noStrike" kern="1200" cap="none" spc="0" normalizeH="0" baseline="0" noProof="0" dirty="0" err="1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고등학교</a:t>
            </a:r>
            <a:r>
              <a:rPr kumimoji="0" lang="en-US" altLang="ko-KR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졸업</a:t>
            </a:r>
            <a:endParaRPr kumimoji="0" lang="en" sz="2399" b="0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/>
              <a:ea typeface="+mn-ea"/>
              <a:cs typeface="+mn-cs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D236979F-0DD0-E771-1C63-1E8ACEA9770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5646400" y="1542780"/>
            <a:ext cx="5232400" cy="482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646DB75A-C626-64AC-4F8C-96FA5E42F35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1936750" y="8686800"/>
            <a:ext cx="1803400" cy="482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F3C496B2-C7CA-F737-5457-2AB0979EDAC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1962150" y="10434320"/>
            <a:ext cx="2819400" cy="4826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63A8FE7E-984E-BB0A-1F3D-B8ECB4811E08}"/>
              </a:ext>
            </a:extLst>
          </p:cNvPr>
          <p:cNvSpPr txBox="1"/>
          <p:nvPr/>
        </p:nvSpPr>
        <p:spPr>
          <a:xfrm>
            <a:off x="2184944" y="10728050"/>
            <a:ext cx="5842000" cy="549550"/>
          </a:xfrm>
          <a:prstGeom prst="rect">
            <a:avLst/>
          </a:prstGeom>
        </p:spPr>
        <p:txBody>
          <a:bodyPr rtlCol="0" anchor="ctr"/>
          <a:lstStyle/>
          <a:p>
            <a:pPr>
              <a:lnSpc>
                <a:spcPct val="186750"/>
              </a:lnSpc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E-mail          </a:t>
            </a:r>
            <a:r>
              <a:rPr lang="en-US" altLang="ko-KR" sz="2399" b="1" dirty="0">
                <a:solidFill>
                  <a:srgbClr val="24370F"/>
                </a:solidFill>
                <a:latin typeface="Gmarket Sans Medium"/>
              </a:rPr>
              <a:t>mowja@naver.com</a:t>
            </a:r>
            <a:endParaRPr lang="en" altLang="ko-KR" sz="2399" b="1" dirty="0">
              <a:solidFill>
                <a:srgbClr val="24370F"/>
              </a:solidFill>
              <a:latin typeface="Gmarket Sans Medium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4F75C92-FEE5-D29A-2E44-431A0333FFA9}"/>
              </a:ext>
            </a:extLst>
          </p:cNvPr>
          <p:cNvSpPr txBox="1"/>
          <p:nvPr/>
        </p:nvSpPr>
        <p:spPr>
          <a:xfrm>
            <a:off x="3798763" y="9123390"/>
            <a:ext cx="5161087" cy="1137376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Gmarket Sans Medium"/>
                <a:cs typeface="+mn-cs"/>
              </a:rPr>
              <a:t>곽덕연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 (Kwak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DeokYeon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24370F"/>
                </a:solidFill>
                <a:latin typeface="Gmarket Sans Medium"/>
              </a:rPr>
              <a:t>2000.01.01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/>
              <a:ea typeface="+mn-ea"/>
              <a:cs typeface="+mn-cs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B9CC811-DD07-C00C-2590-63BCF5C0A76A}"/>
              </a:ext>
            </a:extLst>
          </p:cNvPr>
          <p:cNvSpPr txBox="1"/>
          <p:nvPr/>
        </p:nvSpPr>
        <p:spPr>
          <a:xfrm>
            <a:off x="2184944" y="9189720"/>
            <a:ext cx="1473200" cy="474980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Name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3CEB8000-CAAC-B300-B3E1-FC8EC263F44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5646400" y="5850186"/>
            <a:ext cx="2349500" cy="4826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12BB2491-2427-E5D9-0EB6-E23EBB3E2358}"/>
              </a:ext>
            </a:extLst>
          </p:cNvPr>
          <p:cNvSpPr txBox="1"/>
          <p:nvPr/>
        </p:nvSpPr>
        <p:spPr>
          <a:xfrm>
            <a:off x="15697200" y="6565392"/>
            <a:ext cx="1723920" cy="2597462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8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2025.6</a:t>
            </a: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800" b="0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8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2024.11</a:t>
            </a: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800" b="0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8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2024.09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D04CA97-5BE4-3C25-294B-26FD9E46E568}"/>
              </a:ext>
            </a:extLst>
          </p:cNvPr>
          <p:cNvSpPr txBox="1"/>
          <p:nvPr/>
        </p:nvSpPr>
        <p:spPr>
          <a:xfrm>
            <a:off x="17556540" y="6565392"/>
            <a:ext cx="6455252" cy="2883408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메가존클라우드 평생교육원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>
              <a:lnSpc>
                <a:spcPct val="117859"/>
              </a:lnSpc>
              <a:defRPr/>
            </a:pPr>
            <a:endParaRPr lang="en-US" altLang="ko-KR" sz="2800" b="1" dirty="0">
              <a:solidFill>
                <a:srgbClr val="24370F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>
              <a:lnSpc>
                <a:spcPct val="117859"/>
              </a:lnSpc>
              <a:defRPr/>
            </a:pPr>
            <a:r>
              <a:rPr lang="ko-KR" altLang="en-US" sz="2800" b="1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한국전자 통신학회 가을철종합학술대회</a:t>
            </a:r>
            <a:endParaRPr lang="en-US" altLang="ko-KR" sz="2800" b="1" dirty="0">
              <a:solidFill>
                <a:srgbClr val="24370F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강원대학교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캡스톤디자인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 경진 대회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4E4CE28-02E7-93FF-5058-292503EDC60F}"/>
              </a:ext>
            </a:extLst>
          </p:cNvPr>
          <p:cNvSpPr txBox="1"/>
          <p:nvPr/>
        </p:nvSpPr>
        <p:spPr>
          <a:xfrm>
            <a:off x="17601135" y="7515549"/>
            <a:ext cx="3953764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33" b="0" i="1" u="none" strike="noStrike" kern="1200" cap="none" spc="0" normalizeH="0" baseline="0" noProof="0" dirty="0">
              <a:ln>
                <a:noFill/>
              </a:ln>
              <a:solidFill>
                <a:srgbClr val="24370F">
                  <a:alpha val="70196"/>
                </a:srgbClr>
              </a:solidFill>
              <a:effectLst/>
              <a:uLnTx/>
              <a:uFillTx/>
              <a:latin typeface="Calibri"/>
              <a:ea typeface="Gmarket Sans Medium"/>
              <a:cs typeface="+mn-c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3FFD50F-882E-B80F-3F5E-F588C48FD5EC}"/>
              </a:ext>
            </a:extLst>
          </p:cNvPr>
          <p:cNvSpPr txBox="1"/>
          <p:nvPr/>
        </p:nvSpPr>
        <p:spPr>
          <a:xfrm>
            <a:off x="17734998" y="9054592"/>
            <a:ext cx="4597400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>
                    <a:alpha val="70196"/>
                  </a:srgbClr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- </a:t>
            </a:r>
            <a:r>
              <a:rPr kumimoji="0" lang="ko-KR" altLang="en-US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>
                    <a:alpha val="70196"/>
                  </a:srgbClr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우수 연구 노트 상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BB7A70E-8DB4-4C17-2A41-493380714BA5}"/>
              </a:ext>
            </a:extLst>
          </p:cNvPr>
          <p:cNvSpPr txBox="1"/>
          <p:nvPr/>
        </p:nvSpPr>
        <p:spPr>
          <a:xfrm>
            <a:off x="17734998" y="7030393"/>
            <a:ext cx="5087789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- </a:t>
            </a:r>
            <a:r>
              <a:rPr kumimoji="0" lang="ko-KR" altLang="en-US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최우수팀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EC5203D-F100-EEB8-2217-D36A24486EDE}"/>
              </a:ext>
            </a:extLst>
          </p:cNvPr>
          <p:cNvSpPr txBox="1"/>
          <p:nvPr/>
        </p:nvSpPr>
        <p:spPr>
          <a:xfrm>
            <a:off x="17734998" y="8076168"/>
            <a:ext cx="4597400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- </a:t>
            </a:r>
            <a:r>
              <a:rPr kumimoji="0" lang="ko-KR" altLang="en-US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우 수 논 문 상</a:t>
            </a:r>
          </a:p>
        </p:txBody>
      </p:sp>
      <p:pic>
        <p:nvPicPr>
          <p:cNvPr id="24" name="Picture 24">
            <a:extLst>
              <a:ext uri="{FF2B5EF4-FFF2-40B4-BE49-F238E27FC236}">
                <a16:creationId xmlns:a16="http://schemas.microsoft.com/office/drawing/2014/main" id="{1B648253-82EA-989F-8E8A-0FB65459D70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9937750" y="5867400"/>
            <a:ext cx="3517900" cy="48260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6A46E63D-A143-A15A-5CE9-3E06C5F0046C}"/>
              </a:ext>
            </a:extLst>
          </p:cNvPr>
          <p:cNvGrpSpPr/>
          <p:nvPr/>
        </p:nvGrpSpPr>
        <p:grpSpPr>
          <a:xfrm>
            <a:off x="2891550" y="2570000"/>
            <a:ext cx="3780000" cy="3780000"/>
            <a:chOff x="3850400" y="2428000"/>
            <a:chExt cx="3780000" cy="3780000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9661E54-AE0C-7052-A868-5988281AD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753"/>
            <a:stretch>
              <a:fillRect/>
            </a:stretch>
          </p:blipFill>
          <p:spPr>
            <a:xfrm>
              <a:off x="4263541" y="2899050"/>
              <a:ext cx="2953718" cy="3308950"/>
            </a:xfrm>
            <a:custGeom>
              <a:avLst/>
              <a:gdLst>
                <a:gd name="connsiteX0" fmla="*/ 231221 w 2953718"/>
                <a:gd name="connsiteY0" fmla="*/ 0 h 3308950"/>
                <a:gd name="connsiteX1" fmla="*/ 2722498 w 2953718"/>
                <a:gd name="connsiteY1" fmla="*/ 0 h 3308950"/>
                <a:gd name="connsiteX2" fmla="*/ 2813291 w 2953718"/>
                <a:gd name="connsiteY2" fmla="*/ 82518 h 3308950"/>
                <a:gd name="connsiteX3" fmla="*/ 2935275 w 2953718"/>
                <a:gd name="connsiteY3" fmla="*/ 216735 h 3308950"/>
                <a:gd name="connsiteX4" fmla="*/ 2953718 w 2953718"/>
                <a:gd name="connsiteY4" fmla="*/ 241398 h 3308950"/>
                <a:gd name="connsiteX5" fmla="*/ 2953718 w 2953718"/>
                <a:gd name="connsiteY5" fmla="*/ 2596502 h 3308950"/>
                <a:gd name="connsiteX6" fmla="*/ 2935275 w 2953718"/>
                <a:gd name="connsiteY6" fmla="*/ 2621166 h 3308950"/>
                <a:gd name="connsiteX7" fmla="*/ 1476859 w 2953718"/>
                <a:gd name="connsiteY7" fmla="*/ 3308950 h 3308950"/>
                <a:gd name="connsiteX8" fmla="*/ 18443 w 2953718"/>
                <a:gd name="connsiteY8" fmla="*/ 2621166 h 3308950"/>
                <a:gd name="connsiteX9" fmla="*/ 0 w 2953718"/>
                <a:gd name="connsiteY9" fmla="*/ 2596502 h 3308950"/>
                <a:gd name="connsiteX10" fmla="*/ 0 w 2953718"/>
                <a:gd name="connsiteY10" fmla="*/ 241398 h 3308950"/>
                <a:gd name="connsiteX11" fmla="*/ 18443 w 2953718"/>
                <a:gd name="connsiteY11" fmla="*/ 216735 h 3308950"/>
                <a:gd name="connsiteX12" fmla="*/ 140428 w 2953718"/>
                <a:gd name="connsiteY12" fmla="*/ 82518 h 330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53718" h="3308950">
                  <a:moveTo>
                    <a:pt x="231221" y="0"/>
                  </a:moveTo>
                  <a:lnTo>
                    <a:pt x="2722498" y="0"/>
                  </a:lnTo>
                  <a:lnTo>
                    <a:pt x="2813291" y="82518"/>
                  </a:lnTo>
                  <a:cubicBezTo>
                    <a:pt x="2856044" y="125271"/>
                    <a:pt x="2896758" y="170063"/>
                    <a:pt x="2935275" y="216735"/>
                  </a:cubicBezTo>
                  <a:lnTo>
                    <a:pt x="2953718" y="241398"/>
                  </a:lnTo>
                  <a:lnTo>
                    <a:pt x="2953718" y="2596502"/>
                  </a:lnTo>
                  <a:lnTo>
                    <a:pt x="2935275" y="2621166"/>
                  </a:lnTo>
                  <a:cubicBezTo>
                    <a:pt x="2588621" y="3041213"/>
                    <a:pt x="2064007" y="3308950"/>
                    <a:pt x="1476859" y="3308950"/>
                  </a:cubicBezTo>
                  <a:cubicBezTo>
                    <a:pt x="889712" y="3308950"/>
                    <a:pt x="365097" y="3041213"/>
                    <a:pt x="18443" y="2621166"/>
                  </a:cubicBezTo>
                  <a:lnTo>
                    <a:pt x="0" y="2596502"/>
                  </a:lnTo>
                  <a:lnTo>
                    <a:pt x="0" y="241398"/>
                  </a:lnTo>
                  <a:lnTo>
                    <a:pt x="18443" y="216735"/>
                  </a:lnTo>
                  <a:cubicBezTo>
                    <a:pt x="56961" y="170063"/>
                    <a:pt x="97675" y="125271"/>
                    <a:pt x="140428" y="82518"/>
                  </a:cubicBezTo>
                  <a:close/>
                </a:path>
              </a:pathLst>
            </a:custGeom>
          </p:spPr>
        </p:pic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53E03AE-A73B-FB0A-D70B-080F9DEDE084}"/>
                </a:ext>
              </a:extLst>
            </p:cNvPr>
            <p:cNvSpPr/>
            <p:nvPr/>
          </p:nvSpPr>
          <p:spPr>
            <a:xfrm>
              <a:off x="3850400" y="2428000"/>
              <a:ext cx="3780000" cy="3780000"/>
            </a:xfrm>
            <a:prstGeom prst="ellipse">
              <a:avLst/>
            </a:prstGeom>
            <a:noFill/>
            <a:ln>
              <a:solidFill>
                <a:srgbClr val="2A49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8">
            <a:extLst>
              <a:ext uri="{FF2B5EF4-FFF2-40B4-BE49-F238E27FC236}">
                <a16:creationId xmlns:a16="http://schemas.microsoft.com/office/drawing/2014/main" id="{EF8382F2-D0BA-8BFF-D134-D01331F9D97B}"/>
              </a:ext>
            </a:extLst>
          </p:cNvPr>
          <p:cNvSpPr txBox="1"/>
          <p:nvPr/>
        </p:nvSpPr>
        <p:spPr>
          <a:xfrm>
            <a:off x="15840807" y="2006600"/>
            <a:ext cx="1903935" cy="31750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2024.12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2024.11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2024.09</a:t>
            </a:r>
          </a:p>
          <a:p>
            <a:pPr lvl="0">
              <a:lnSpc>
                <a:spcPct val="200000"/>
              </a:lnSpc>
            </a:pPr>
            <a:r>
              <a:rPr lang="en" altLang="ko-KR" sz="2400" dirty="0">
                <a:solidFill>
                  <a:srgbClr val="24370F"/>
                </a:solidFill>
                <a:latin typeface="Gmarket Sans Medium"/>
              </a:rPr>
              <a:t>2024.03</a:t>
            </a:r>
            <a:endParaRPr lang="en" sz="2400" dirty="0">
              <a:solidFill>
                <a:srgbClr val="24370F"/>
              </a:solidFill>
              <a:latin typeface="Gmarket Sans Medium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A3BB895D-032A-E283-2DC7-B5C53E25F947}"/>
              </a:ext>
            </a:extLst>
          </p:cNvPr>
          <p:cNvSpPr txBox="1"/>
          <p:nvPr/>
        </p:nvSpPr>
        <p:spPr>
          <a:xfrm>
            <a:off x="17700148" y="2006600"/>
            <a:ext cx="5572602" cy="3175000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메가존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Calibri"/>
                <a:ea typeface="Gmarket Sans Medium"/>
                <a:cs typeface="+mn-cs"/>
              </a:rPr>
              <a:t> 클라우드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Arial Narrow" panose="020B0606020202030204" pitchFamily="34" charset="0"/>
                <a:ea typeface="Gmarket Sans Medium"/>
              </a:rPr>
              <a:t>MSP SA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Arial Narrow" panose="020B0606020202030204" pitchFamily="34" charset="0"/>
                <a:ea typeface="Gmarket Sans Medium"/>
              </a:rPr>
              <a:t>양성과정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Arial Narrow" panose="020B0606020202030204" pitchFamily="34" charset="0"/>
              <a:ea typeface="Gmarket Sa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1" dirty="0">
                <a:solidFill>
                  <a:srgbClr val="24370F"/>
                </a:solidFill>
                <a:latin typeface="Calibri"/>
                <a:ea typeface="Gmarket Sans Medium"/>
              </a:rPr>
              <a:t>한국전자 통신학회 가을철종합학술대회</a:t>
            </a:r>
            <a:endParaRPr lang="en-US" altLang="ko-KR" sz="2400" b="1" dirty="0">
              <a:solidFill>
                <a:srgbClr val="24370F"/>
              </a:solidFill>
              <a:latin typeface="Calibri"/>
              <a:ea typeface="Gmarket Sa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>
                <a:solidFill>
                  <a:srgbClr val="24370F"/>
                </a:solidFill>
                <a:latin typeface="Calibri"/>
                <a:ea typeface="Gmarket Sans Medium"/>
              </a:rPr>
              <a:t>DCS </a:t>
            </a:r>
            <a:r>
              <a:rPr lang="ko-KR" altLang="en-US" sz="2400" b="1" dirty="0">
                <a:solidFill>
                  <a:srgbClr val="24370F"/>
                </a:solidFill>
                <a:latin typeface="Calibri"/>
                <a:ea typeface="Gmarket Sans Medium"/>
              </a:rPr>
              <a:t>가을철 경진대회</a:t>
            </a:r>
            <a:endParaRPr lang="en-US" altLang="ko-KR" sz="2400" b="1" dirty="0">
              <a:solidFill>
                <a:srgbClr val="24370F"/>
              </a:solidFill>
              <a:latin typeface="Calibri"/>
              <a:ea typeface="Gmarket Sa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1" dirty="0">
                <a:solidFill>
                  <a:srgbClr val="24370F"/>
                </a:solidFill>
                <a:latin typeface="Calibri"/>
                <a:ea typeface="Gmarket Sans Medium"/>
              </a:rPr>
              <a:t>강원대학교 </a:t>
            </a:r>
            <a:r>
              <a:rPr lang="ko-KR" altLang="en-US" sz="2400" b="1" dirty="0" err="1">
                <a:solidFill>
                  <a:srgbClr val="24370F"/>
                </a:solidFill>
                <a:latin typeface="Calibri"/>
                <a:ea typeface="Gmarket Sans Medium"/>
              </a:rPr>
              <a:t>캡스톤</a:t>
            </a:r>
            <a:r>
              <a:rPr lang="ko-KR" altLang="en-US" sz="2400" b="1" dirty="0">
                <a:solidFill>
                  <a:srgbClr val="24370F"/>
                </a:solidFill>
                <a:latin typeface="Calibri"/>
                <a:ea typeface="Gmarket Sans Medium"/>
              </a:rPr>
              <a:t> 경진대회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Calibri"/>
              <a:ea typeface="Gmarket Sans Medium"/>
              <a:cs typeface="+mn-cs"/>
            </a:endParaRP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A33B06D4-6FC0-0FB3-E83C-DF543024504D}"/>
              </a:ext>
            </a:extLst>
          </p:cNvPr>
          <p:cNvSpPr txBox="1"/>
          <p:nvPr/>
        </p:nvSpPr>
        <p:spPr>
          <a:xfrm>
            <a:off x="1962150" y="6781800"/>
            <a:ext cx="3670300" cy="474980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About Me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A49E8"/>
              </a:solidFill>
              <a:effectLst/>
              <a:uLnTx/>
              <a:uFillTx/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139A51AC-542C-CAC2-4C3E-4A5A298F07E6}"/>
              </a:ext>
            </a:extLst>
          </p:cNvPr>
          <p:cNvSpPr txBox="1"/>
          <p:nvPr/>
        </p:nvSpPr>
        <p:spPr>
          <a:xfrm>
            <a:off x="2184944" y="7376002"/>
            <a:ext cx="6299199" cy="1280104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완벽하진 않아도</a:t>
            </a:r>
            <a:r>
              <a:rPr lang="en-US" altLang="ko-KR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altLang="en-US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흐름은 내 손으로 잡는다</a:t>
            </a:r>
            <a:r>
              <a:rPr lang="en-US" altLang="ko-KR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기술은 버티는 방법 중 하나일 뿐</a:t>
            </a:r>
            <a:r>
              <a:rPr lang="en-US" altLang="ko-KR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이해하며 살아남는 사람이 되고자</a:t>
            </a:r>
            <a:r>
              <a:rPr lang="en-US" altLang="ko-KR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합니다</a:t>
            </a:r>
            <a:r>
              <a:rPr lang="en-US" altLang="ko-KR" sz="2399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kumimoji="0" lang="en" sz="2399" b="0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F7A2218-C19E-00F1-D47F-B774FA1BC290}"/>
              </a:ext>
            </a:extLst>
          </p:cNvPr>
          <p:cNvGrpSpPr/>
          <p:nvPr/>
        </p:nvGrpSpPr>
        <p:grpSpPr>
          <a:xfrm>
            <a:off x="10090288" y="6578599"/>
            <a:ext cx="2290910" cy="1352368"/>
            <a:chOff x="17877282" y="4984620"/>
            <a:chExt cx="2520000" cy="1800000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1816D6-3687-BAD5-F5B4-23E0D1D6A712}"/>
                </a:ext>
              </a:extLst>
            </p:cNvPr>
            <p:cNvGrpSpPr/>
            <p:nvPr/>
          </p:nvGrpSpPr>
          <p:grpSpPr>
            <a:xfrm>
              <a:off x="17877282" y="4984620"/>
              <a:ext cx="2520000" cy="1800000"/>
              <a:chOff x="17877282" y="4984620"/>
              <a:chExt cx="2520000" cy="1800000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8467C954-A1E1-843C-C97F-BC58732DB340}"/>
                  </a:ext>
                </a:extLst>
              </p:cNvPr>
              <p:cNvSpPr/>
              <p:nvPr/>
            </p:nvSpPr>
            <p:spPr>
              <a:xfrm>
                <a:off x="17877282" y="4984620"/>
                <a:ext cx="2520000" cy="1800000"/>
              </a:xfrm>
              <a:prstGeom prst="rect">
                <a:avLst/>
              </a:prstGeom>
              <a:solidFill>
                <a:srgbClr val="C2C2C2"/>
              </a:solidFill>
              <a:ln>
                <a:solidFill>
                  <a:srgbClr val="C2C2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29CE4128-D113-6926-83F3-BDEE1A971389}"/>
                  </a:ext>
                </a:extLst>
              </p:cNvPr>
              <p:cNvSpPr/>
              <p:nvPr/>
            </p:nvSpPr>
            <p:spPr>
              <a:xfrm>
                <a:off x="18057282" y="5164620"/>
                <a:ext cx="2160000" cy="1440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</p:grp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3B7163D2-791D-07A7-A4E8-2B168764D91A}"/>
                </a:ext>
              </a:extLst>
            </p:cNvPr>
            <p:cNvSpPr txBox="1"/>
            <p:nvPr/>
          </p:nvSpPr>
          <p:spPr>
            <a:xfrm>
              <a:off x="18026032" y="5541741"/>
              <a:ext cx="2222500" cy="727518"/>
            </a:xfrm>
            <a:prstGeom prst="rect">
              <a:avLst/>
            </a:prstGeom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370F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rPr>
                <a:t>AWS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370F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rPr>
                <a:t>Cloud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3EAA4F3-7ECB-20FA-0DDC-AD63A0F3644C}"/>
              </a:ext>
            </a:extLst>
          </p:cNvPr>
          <p:cNvGrpSpPr/>
          <p:nvPr/>
        </p:nvGrpSpPr>
        <p:grpSpPr>
          <a:xfrm>
            <a:off x="12796690" y="6578599"/>
            <a:ext cx="2290910" cy="1352368"/>
            <a:chOff x="17877282" y="4984620"/>
            <a:chExt cx="2520000" cy="1800000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EFCA585-4172-463A-C1D5-37521C21A568}"/>
                </a:ext>
              </a:extLst>
            </p:cNvPr>
            <p:cNvGrpSpPr/>
            <p:nvPr/>
          </p:nvGrpSpPr>
          <p:grpSpPr>
            <a:xfrm>
              <a:off x="17877282" y="4984620"/>
              <a:ext cx="2520000" cy="1800000"/>
              <a:chOff x="17877282" y="4984620"/>
              <a:chExt cx="2520000" cy="1800000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D53206D9-7B56-7D5C-11AC-B035637098DF}"/>
                  </a:ext>
                </a:extLst>
              </p:cNvPr>
              <p:cNvSpPr/>
              <p:nvPr/>
            </p:nvSpPr>
            <p:spPr>
              <a:xfrm>
                <a:off x="17877282" y="4984620"/>
                <a:ext cx="2520000" cy="1800000"/>
              </a:xfrm>
              <a:prstGeom prst="rect">
                <a:avLst/>
              </a:prstGeom>
              <a:solidFill>
                <a:srgbClr val="C2C2C2"/>
              </a:solidFill>
              <a:ln>
                <a:solidFill>
                  <a:srgbClr val="C2C2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3413F078-F13A-804D-5708-FCEC44224C4C}"/>
                  </a:ext>
                </a:extLst>
              </p:cNvPr>
              <p:cNvSpPr/>
              <p:nvPr/>
            </p:nvSpPr>
            <p:spPr>
              <a:xfrm>
                <a:off x="18057282" y="5164620"/>
                <a:ext cx="2160000" cy="1440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</p:grpSp>
        <p:sp>
          <p:nvSpPr>
            <p:cNvPr id="49" name="TextBox 25">
              <a:extLst>
                <a:ext uri="{FF2B5EF4-FFF2-40B4-BE49-F238E27FC236}">
                  <a16:creationId xmlns:a16="http://schemas.microsoft.com/office/drawing/2014/main" id="{72699B65-B08E-5371-D144-AC36823230A9}"/>
                </a:ext>
              </a:extLst>
            </p:cNvPr>
            <p:cNvSpPr txBox="1"/>
            <p:nvPr/>
          </p:nvSpPr>
          <p:spPr>
            <a:xfrm>
              <a:off x="18026032" y="5541741"/>
              <a:ext cx="2222500" cy="727518"/>
            </a:xfrm>
            <a:prstGeom prst="rect">
              <a:avLst/>
            </a:prstGeom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370F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rPr>
                <a:t>Linux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E9C6FD7-147E-D04A-8FC3-A07BC1158116}"/>
              </a:ext>
            </a:extLst>
          </p:cNvPr>
          <p:cNvGrpSpPr/>
          <p:nvPr/>
        </p:nvGrpSpPr>
        <p:grpSpPr>
          <a:xfrm>
            <a:off x="10090288" y="8303743"/>
            <a:ext cx="2290910" cy="1352368"/>
            <a:chOff x="17877282" y="4984620"/>
            <a:chExt cx="2520000" cy="1800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34DC0199-E2A0-53CC-9307-045D0F25D6EB}"/>
                </a:ext>
              </a:extLst>
            </p:cNvPr>
            <p:cNvGrpSpPr/>
            <p:nvPr/>
          </p:nvGrpSpPr>
          <p:grpSpPr>
            <a:xfrm>
              <a:off x="17877282" y="4984620"/>
              <a:ext cx="2520000" cy="1800000"/>
              <a:chOff x="17877282" y="4984620"/>
              <a:chExt cx="2520000" cy="1800000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AC303B7-4A8D-3D2F-A7B5-C2B5D3E686FB}"/>
                  </a:ext>
                </a:extLst>
              </p:cNvPr>
              <p:cNvSpPr/>
              <p:nvPr/>
            </p:nvSpPr>
            <p:spPr>
              <a:xfrm>
                <a:off x="17877282" y="4984620"/>
                <a:ext cx="2520000" cy="1800000"/>
              </a:xfrm>
              <a:prstGeom prst="rect">
                <a:avLst/>
              </a:prstGeom>
              <a:solidFill>
                <a:srgbClr val="C2C2C2"/>
              </a:solidFill>
              <a:ln>
                <a:solidFill>
                  <a:srgbClr val="C2C2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E97E49F1-EA2C-5B13-4C9C-F4AA36E4A918}"/>
                  </a:ext>
                </a:extLst>
              </p:cNvPr>
              <p:cNvSpPr/>
              <p:nvPr/>
            </p:nvSpPr>
            <p:spPr>
              <a:xfrm>
                <a:off x="18057282" y="5164620"/>
                <a:ext cx="2160000" cy="1440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</p:grpSp>
        <p:sp>
          <p:nvSpPr>
            <p:cNvPr id="33" name="TextBox 25">
              <a:extLst>
                <a:ext uri="{FF2B5EF4-FFF2-40B4-BE49-F238E27FC236}">
                  <a16:creationId xmlns:a16="http://schemas.microsoft.com/office/drawing/2014/main" id="{455B6BA1-CD90-99CD-F9A6-CA0D4D6130B0}"/>
                </a:ext>
              </a:extLst>
            </p:cNvPr>
            <p:cNvSpPr txBox="1"/>
            <p:nvPr/>
          </p:nvSpPr>
          <p:spPr>
            <a:xfrm>
              <a:off x="18026032" y="5541741"/>
              <a:ext cx="2222500" cy="727518"/>
            </a:xfrm>
            <a:prstGeom prst="rect">
              <a:avLst/>
            </a:prstGeom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>
                  <a:solidFill>
                    <a:srgbClr val="24370F"/>
                  </a:solidFill>
                  <a:latin typeface="Gmarket Sans Medium" panose="020B0600000101010101" charset="-127"/>
                  <a:ea typeface="Gmarket Sans Medium" panose="020B0600000101010101" charset="-127"/>
                </a:rPr>
                <a:t>VirtualBox</a:t>
              </a:r>
              <a:endPara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8690B7A-DB58-0571-68B8-8F433DCE0CB3}"/>
              </a:ext>
            </a:extLst>
          </p:cNvPr>
          <p:cNvGrpSpPr/>
          <p:nvPr/>
        </p:nvGrpSpPr>
        <p:grpSpPr>
          <a:xfrm>
            <a:off x="12796690" y="8303743"/>
            <a:ext cx="2290910" cy="1352368"/>
            <a:chOff x="17877282" y="4984620"/>
            <a:chExt cx="2520000" cy="1800000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703244F-07F7-92C6-3BDE-ED0322C6AF2C}"/>
                </a:ext>
              </a:extLst>
            </p:cNvPr>
            <p:cNvGrpSpPr/>
            <p:nvPr/>
          </p:nvGrpSpPr>
          <p:grpSpPr>
            <a:xfrm>
              <a:off x="17877282" y="4984620"/>
              <a:ext cx="2520000" cy="1800000"/>
              <a:chOff x="17877282" y="4984620"/>
              <a:chExt cx="2520000" cy="180000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0BBE2E55-7509-6A22-E6CA-A505D9550E22}"/>
                  </a:ext>
                </a:extLst>
              </p:cNvPr>
              <p:cNvSpPr/>
              <p:nvPr/>
            </p:nvSpPr>
            <p:spPr>
              <a:xfrm>
                <a:off x="17877282" y="4984620"/>
                <a:ext cx="2520000" cy="1800000"/>
              </a:xfrm>
              <a:prstGeom prst="rect">
                <a:avLst/>
              </a:prstGeom>
              <a:solidFill>
                <a:srgbClr val="C2C2C2"/>
              </a:solidFill>
              <a:ln>
                <a:solidFill>
                  <a:srgbClr val="C2C2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1DC450D-93B8-14FA-0DB7-3B0521E0DAA8}"/>
                  </a:ext>
                </a:extLst>
              </p:cNvPr>
              <p:cNvSpPr/>
              <p:nvPr/>
            </p:nvSpPr>
            <p:spPr>
              <a:xfrm>
                <a:off x="18057282" y="5164620"/>
                <a:ext cx="2160000" cy="1440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</p:grpSp>
        <p:sp>
          <p:nvSpPr>
            <p:cNvPr id="54" name="TextBox 25">
              <a:extLst>
                <a:ext uri="{FF2B5EF4-FFF2-40B4-BE49-F238E27FC236}">
                  <a16:creationId xmlns:a16="http://schemas.microsoft.com/office/drawing/2014/main" id="{BDDD8DB3-9F3D-20B3-EF2D-01936459FD4F}"/>
                </a:ext>
              </a:extLst>
            </p:cNvPr>
            <p:cNvSpPr txBox="1"/>
            <p:nvPr/>
          </p:nvSpPr>
          <p:spPr>
            <a:xfrm>
              <a:off x="18026032" y="5541741"/>
              <a:ext cx="2222500" cy="727518"/>
            </a:xfrm>
            <a:prstGeom prst="rect">
              <a:avLst/>
            </a:prstGeom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>
                  <a:solidFill>
                    <a:srgbClr val="24370F"/>
                  </a:solidFill>
                  <a:latin typeface="Gmarket Sans Medium" panose="020B0600000101010101" charset="-127"/>
                  <a:ea typeface="Gmarket Sans Medium" panose="020B0600000101010101" charset="-127"/>
                </a:rPr>
                <a:t>Window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370F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rPr>
                <a:t>server</a:t>
              </a:r>
              <a:endPara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4E56814-830B-27E3-82E7-FF000FAC6339}"/>
              </a:ext>
            </a:extLst>
          </p:cNvPr>
          <p:cNvGrpSpPr/>
          <p:nvPr/>
        </p:nvGrpSpPr>
        <p:grpSpPr>
          <a:xfrm>
            <a:off x="10090288" y="10028887"/>
            <a:ext cx="2290910" cy="1352368"/>
            <a:chOff x="17877282" y="4984620"/>
            <a:chExt cx="2520000" cy="1800000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3A3E779B-66CD-BAF3-4768-18A39497E6CA}"/>
                </a:ext>
              </a:extLst>
            </p:cNvPr>
            <p:cNvGrpSpPr/>
            <p:nvPr/>
          </p:nvGrpSpPr>
          <p:grpSpPr>
            <a:xfrm>
              <a:off x="17877282" y="4984620"/>
              <a:ext cx="2520000" cy="1800000"/>
              <a:chOff x="17877282" y="4984620"/>
              <a:chExt cx="2520000" cy="1800000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6C418FDF-01AD-71C0-BA6D-C239D02D6B4C}"/>
                  </a:ext>
                </a:extLst>
              </p:cNvPr>
              <p:cNvSpPr/>
              <p:nvPr/>
            </p:nvSpPr>
            <p:spPr>
              <a:xfrm>
                <a:off x="17877282" y="4984620"/>
                <a:ext cx="2520000" cy="1800000"/>
              </a:xfrm>
              <a:prstGeom prst="rect">
                <a:avLst/>
              </a:prstGeom>
              <a:solidFill>
                <a:srgbClr val="C2C2C2"/>
              </a:solidFill>
              <a:ln>
                <a:solidFill>
                  <a:srgbClr val="C2C2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8415CF29-8FDE-A4BC-73B8-77CE97F68C60}"/>
                  </a:ext>
                </a:extLst>
              </p:cNvPr>
              <p:cNvSpPr/>
              <p:nvPr/>
            </p:nvSpPr>
            <p:spPr>
              <a:xfrm>
                <a:off x="18057282" y="5164620"/>
                <a:ext cx="2160000" cy="1440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</p:grpSp>
        <p:sp>
          <p:nvSpPr>
            <p:cNvPr id="38" name="TextBox 25">
              <a:extLst>
                <a:ext uri="{FF2B5EF4-FFF2-40B4-BE49-F238E27FC236}">
                  <a16:creationId xmlns:a16="http://schemas.microsoft.com/office/drawing/2014/main" id="{F2B91B3F-F54B-D08D-0C14-1774EED83A2C}"/>
                </a:ext>
              </a:extLst>
            </p:cNvPr>
            <p:cNvSpPr txBox="1"/>
            <p:nvPr/>
          </p:nvSpPr>
          <p:spPr>
            <a:xfrm>
              <a:off x="18026032" y="5541741"/>
              <a:ext cx="2222500" cy="727518"/>
            </a:xfrm>
            <a:prstGeom prst="rect">
              <a:avLst/>
            </a:prstGeom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370F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rPr>
                <a:t>Router/ Switch</a:t>
              </a:r>
              <a:endPara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6E8B178-59DB-16F4-17D9-912425FD6703}"/>
              </a:ext>
            </a:extLst>
          </p:cNvPr>
          <p:cNvGrpSpPr/>
          <p:nvPr/>
        </p:nvGrpSpPr>
        <p:grpSpPr>
          <a:xfrm>
            <a:off x="12796690" y="10028887"/>
            <a:ext cx="2290910" cy="1352368"/>
            <a:chOff x="17877282" y="4984620"/>
            <a:chExt cx="2520000" cy="1800000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EC1E3EC-ABE8-CC74-66C7-78C09D19835B}"/>
                </a:ext>
              </a:extLst>
            </p:cNvPr>
            <p:cNvGrpSpPr/>
            <p:nvPr/>
          </p:nvGrpSpPr>
          <p:grpSpPr>
            <a:xfrm>
              <a:off x="17877282" y="4984620"/>
              <a:ext cx="2520000" cy="1800000"/>
              <a:chOff x="17877282" y="4984620"/>
              <a:chExt cx="2520000" cy="1800000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009AE2C-958B-FF3B-6475-DC4A34A336D0}"/>
                  </a:ext>
                </a:extLst>
              </p:cNvPr>
              <p:cNvSpPr/>
              <p:nvPr/>
            </p:nvSpPr>
            <p:spPr>
              <a:xfrm>
                <a:off x="17877282" y="4984620"/>
                <a:ext cx="2520000" cy="1800000"/>
              </a:xfrm>
              <a:prstGeom prst="rect">
                <a:avLst/>
              </a:prstGeom>
              <a:solidFill>
                <a:srgbClr val="C2C2C2"/>
              </a:solidFill>
              <a:ln>
                <a:solidFill>
                  <a:srgbClr val="C2C2C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C1D9A93-057F-1831-CC6E-CF94E06D96FF}"/>
                  </a:ext>
                </a:extLst>
              </p:cNvPr>
              <p:cNvSpPr/>
              <p:nvPr/>
            </p:nvSpPr>
            <p:spPr>
              <a:xfrm>
                <a:off x="18057282" y="5164620"/>
                <a:ext cx="2160000" cy="1440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2F2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market Sans Medium" panose="020B0600000101010101" charset="-127"/>
                  <a:ea typeface="Gmarket Sans Medium" panose="020B0600000101010101" charset="-127"/>
                </a:endParaRPr>
              </a:p>
            </p:txBody>
          </p:sp>
        </p:grpSp>
        <p:sp>
          <p:nvSpPr>
            <p:cNvPr id="59" name="TextBox 25">
              <a:extLst>
                <a:ext uri="{FF2B5EF4-FFF2-40B4-BE49-F238E27FC236}">
                  <a16:creationId xmlns:a16="http://schemas.microsoft.com/office/drawing/2014/main" id="{7326BC98-EF84-2C14-E754-88EA65FF9DFC}"/>
                </a:ext>
              </a:extLst>
            </p:cNvPr>
            <p:cNvSpPr txBox="1"/>
            <p:nvPr/>
          </p:nvSpPr>
          <p:spPr>
            <a:xfrm>
              <a:off x="17877282" y="5541741"/>
              <a:ext cx="2499971" cy="727518"/>
            </a:xfrm>
            <a:prstGeom prst="rect">
              <a:avLst/>
            </a:prstGeom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dirty="0">
                  <a:solidFill>
                    <a:srgbClr val="24370F"/>
                  </a:solidFill>
                  <a:latin typeface="Gmarket Sans Medium" panose="020B0600000101010101" charset="-127"/>
                  <a:ea typeface="Gmarket Sans Medium" panose="020B0600000101010101" charset="-127"/>
                </a:rPr>
                <a:t>GNS3</a:t>
              </a:r>
            </a:p>
          </p:txBody>
        </p:sp>
      </p:grp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513C9E9E-C56E-3BC8-F988-693E648815A4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custGeom>
            <a:avLst/>
            <a:gdLst>
              <a:gd name="connsiteX0" fmla="*/ 360600 w 24384000"/>
              <a:gd name="connsiteY0" fmla="*/ 360000 h 13716000"/>
              <a:gd name="connsiteX1" fmla="*/ 360600 w 24384000"/>
              <a:gd name="connsiteY1" fmla="*/ 13356000 h 13716000"/>
              <a:gd name="connsiteX2" fmla="*/ 24023400 w 24384000"/>
              <a:gd name="connsiteY2" fmla="*/ 13356000 h 13716000"/>
              <a:gd name="connsiteX3" fmla="*/ 24023400 w 24384000"/>
              <a:gd name="connsiteY3" fmla="*/ 360000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360600" y="360000"/>
                </a:moveTo>
                <a:lnTo>
                  <a:pt x="360600" y="13356000"/>
                </a:lnTo>
                <a:lnTo>
                  <a:pt x="24023400" y="13356000"/>
                </a:lnTo>
                <a:lnTo>
                  <a:pt x="24023400" y="360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A49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CF9155FF-147F-0EC7-B462-CC86D01A993D}"/>
              </a:ext>
            </a:extLst>
          </p:cNvPr>
          <p:cNvSpPr txBox="1"/>
          <p:nvPr/>
        </p:nvSpPr>
        <p:spPr>
          <a:xfrm>
            <a:off x="11556647" y="2559203"/>
            <a:ext cx="4089753" cy="394208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4499"/>
              </a:lnSpc>
              <a:defRPr/>
            </a:pPr>
            <a:r>
              <a:rPr lang="en-US" altLang="ko-KR" sz="1733" i="1" dirty="0">
                <a:solidFill>
                  <a:srgbClr val="24370F"/>
                </a:solidFill>
                <a:ea typeface="Gmarket Sans Medium"/>
              </a:rPr>
              <a:t>- </a:t>
            </a:r>
            <a:r>
              <a:rPr lang="ko-KR" altLang="en-US" sz="1733" i="1" dirty="0">
                <a:solidFill>
                  <a:srgbClr val="24370F"/>
                </a:solidFill>
                <a:ea typeface="Gmarket Sans Medium"/>
              </a:rPr>
              <a:t>전자정보통신공학부 정보통신공학전공</a:t>
            </a:r>
            <a:endParaRPr kumimoji="0" lang="ko-KR" altLang="en-US" sz="1733" b="0" i="1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Calibri"/>
              <a:ea typeface="Gmarket Sans Medium"/>
              <a:cs typeface="+mn-cs"/>
            </a:endParaRP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AB80B035-C636-230B-163C-D264376D401D}"/>
              </a:ext>
            </a:extLst>
          </p:cNvPr>
          <p:cNvSpPr txBox="1"/>
          <p:nvPr/>
        </p:nvSpPr>
        <p:spPr>
          <a:xfrm>
            <a:off x="11479701" y="3319353"/>
            <a:ext cx="3880841" cy="394208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4499"/>
              </a:lnSpc>
              <a:defRPr/>
            </a:pPr>
            <a:r>
              <a:rPr lang="en-US" altLang="ko-KR" sz="1733" i="1" dirty="0">
                <a:solidFill>
                  <a:srgbClr val="24370F"/>
                </a:solidFill>
                <a:ea typeface="Gmarket Sans Medium"/>
              </a:rPr>
              <a:t>- </a:t>
            </a:r>
            <a:r>
              <a:rPr lang="ko-KR" altLang="en-US" sz="1733" i="1" dirty="0">
                <a:solidFill>
                  <a:srgbClr val="24370F"/>
                </a:solidFill>
                <a:ea typeface="Gmarket Sans Medium"/>
              </a:rPr>
              <a:t>전자정보통신공학부</a:t>
            </a:r>
            <a:endParaRPr kumimoji="0" lang="ko-KR" altLang="en-US" sz="1733" b="0" i="1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Calibri"/>
              <a:ea typeface="Gmarket Sans Medium"/>
              <a:cs typeface="+mn-cs"/>
            </a:endParaRPr>
          </a:p>
        </p:txBody>
      </p:sp>
      <p:sp>
        <p:nvSpPr>
          <p:cNvPr id="103" name="TextBox 15">
            <a:extLst>
              <a:ext uri="{FF2B5EF4-FFF2-40B4-BE49-F238E27FC236}">
                <a16:creationId xmlns:a16="http://schemas.microsoft.com/office/drawing/2014/main" id="{B557C4F2-AEC0-34EA-A50B-4CAD82FBAA3C}"/>
              </a:ext>
            </a:extLst>
          </p:cNvPr>
          <p:cNvSpPr txBox="1"/>
          <p:nvPr/>
        </p:nvSpPr>
        <p:spPr>
          <a:xfrm>
            <a:off x="2184944" y="9750516"/>
            <a:ext cx="1473200" cy="474980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Birth</a:t>
            </a:r>
          </a:p>
        </p:txBody>
      </p:sp>
      <p:pic>
        <p:nvPicPr>
          <p:cNvPr id="2" name="Picture 16">
            <a:extLst>
              <a:ext uri="{FF2B5EF4-FFF2-40B4-BE49-F238E27FC236}">
                <a16:creationId xmlns:a16="http://schemas.microsoft.com/office/drawing/2014/main" id="{3E0E8261-BCDA-EF6E-3D4F-956FFE86A86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5718828" y="9787587"/>
            <a:ext cx="2349500" cy="482600"/>
          </a:xfrm>
          <a:prstGeom prst="rect">
            <a:avLst/>
          </a:prstGeom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03C553FA-B3EF-5900-2F10-D72F861E2053}"/>
              </a:ext>
            </a:extLst>
          </p:cNvPr>
          <p:cNvSpPr txBox="1"/>
          <p:nvPr/>
        </p:nvSpPr>
        <p:spPr>
          <a:xfrm>
            <a:off x="15769628" y="10502793"/>
            <a:ext cx="1723920" cy="2597462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800" b="0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/>
                <a:ea typeface="+mn-ea"/>
                <a:cs typeface="+mn-cs"/>
              </a:rPr>
              <a:t>2025.11</a:t>
            </a: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800" b="0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/>
              <a:ea typeface="+mn-ea"/>
              <a:cs typeface="+mn-cs"/>
            </a:endParaRPr>
          </a:p>
          <a:p>
            <a:pPr lvl="0">
              <a:lnSpc>
                <a:spcPct val="117859"/>
              </a:lnSpc>
              <a:defRPr/>
            </a:pPr>
            <a:endParaRPr lang="en" altLang="ko-KR" sz="2800" dirty="0">
              <a:solidFill>
                <a:srgbClr val="24370F"/>
              </a:solidFill>
              <a:latin typeface="Gmarket Sans Medium"/>
            </a:endParaRPr>
          </a:p>
          <a:p>
            <a:pPr lvl="0">
              <a:lnSpc>
                <a:spcPct val="117859"/>
              </a:lnSpc>
              <a:defRPr/>
            </a:pPr>
            <a:r>
              <a:rPr lang="en" altLang="ko-KR" sz="2800" dirty="0">
                <a:solidFill>
                  <a:srgbClr val="24370F"/>
                </a:solidFill>
                <a:latin typeface="Gmarket Sans Medium"/>
              </a:rPr>
              <a:t>2025.11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39BF6C5C-5330-8FA8-81BE-7A3D32F41BCD}"/>
              </a:ext>
            </a:extLst>
          </p:cNvPr>
          <p:cNvSpPr txBox="1"/>
          <p:nvPr/>
        </p:nvSpPr>
        <p:spPr>
          <a:xfrm>
            <a:off x="17628968" y="10502793"/>
            <a:ext cx="6455252" cy="2883408"/>
          </a:xfrm>
          <a:prstGeom prst="rect">
            <a:avLst/>
          </a:prstGeom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AWS Certified Solutions Architect - Associate</a:t>
            </a:r>
            <a:endParaRPr lang="en-US" altLang="ko-KR" sz="2800" b="1" dirty="0">
              <a:solidFill>
                <a:srgbClr val="24370F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>
              <a:lnSpc>
                <a:spcPct val="117859"/>
              </a:lnSpc>
              <a:defRPr/>
            </a:pPr>
            <a:endParaRPr lang="en-US" altLang="ko-KR" sz="2800" b="1" dirty="0">
              <a:solidFill>
                <a:srgbClr val="24370F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>
              <a:lnSpc>
                <a:spcPct val="117859"/>
              </a:lnSpc>
              <a:defRPr/>
            </a:pPr>
            <a:r>
              <a:rPr lang="ko-KR" altLang="en-US" sz="2800" b="1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네트워크 관리사 </a:t>
            </a:r>
            <a:r>
              <a:rPr lang="en-US" altLang="ko-KR" sz="2800" b="1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2</a:t>
            </a:r>
            <a:r>
              <a:rPr lang="ko-KR" altLang="en-US" sz="2800" b="1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급</a:t>
            </a:r>
            <a:endParaRPr lang="en-US" altLang="ko-KR" sz="2800" b="1" dirty="0">
              <a:solidFill>
                <a:srgbClr val="24370F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78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D5F40B9F-4C72-8E4C-AD00-BEFC0D063EDE}"/>
              </a:ext>
            </a:extLst>
          </p:cNvPr>
          <p:cNvSpPr txBox="1"/>
          <p:nvPr/>
        </p:nvSpPr>
        <p:spPr>
          <a:xfrm>
            <a:off x="17673563" y="11452950"/>
            <a:ext cx="3953764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33" b="0" i="1" u="none" strike="noStrike" kern="1200" cap="none" spc="0" normalizeH="0" baseline="0" noProof="0" dirty="0">
              <a:ln>
                <a:noFill/>
              </a:ln>
              <a:solidFill>
                <a:srgbClr val="24370F">
                  <a:alpha val="70196"/>
                </a:srgbClr>
              </a:solidFill>
              <a:effectLst/>
              <a:uLnTx/>
              <a:uFillTx/>
              <a:latin typeface="Calibri"/>
              <a:ea typeface="Gmarket Sans Medium"/>
              <a:cs typeface="+mn-cs"/>
            </a:endParaRP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DE30A906-1372-B601-FA74-656AC9081C7C}"/>
              </a:ext>
            </a:extLst>
          </p:cNvPr>
          <p:cNvSpPr txBox="1"/>
          <p:nvPr/>
        </p:nvSpPr>
        <p:spPr>
          <a:xfrm>
            <a:off x="17807426" y="11503058"/>
            <a:ext cx="5087789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33" b="0" i="1" u="none" strike="noStrike" kern="1200" cap="none" spc="0" normalizeH="0" baseline="0" noProof="0" dirty="0">
                <a:ln>
                  <a:noFill/>
                </a:ln>
                <a:solidFill>
                  <a:srgbClr val="24370F"/>
                </a:solidFill>
                <a:effectLst/>
                <a:uLnTx/>
                <a:uFillTx/>
                <a:latin typeface="Gmarket Sans Medium" panose="020B0600000101010101" charset="-127"/>
                <a:ea typeface="Gmarket Sans Medium" panose="020B0600000101010101" charset="-127"/>
              </a:rPr>
              <a:t>- Aws training and certification</a:t>
            </a:r>
            <a:endParaRPr kumimoji="0" lang="ko-KR" altLang="en-US" sz="1733" b="0" i="1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64" name="TextBox 23">
            <a:extLst>
              <a:ext uri="{FF2B5EF4-FFF2-40B4-BE49-F238E27FC236}">
                <a16:creationId xmlns:a16="http://schemas.microsoft.com/office/drawing/2014/main" id="{09AC6F31-C9A4-51C9-BC94-50BFA2D33D70}"/>
              </a:ext>
            </a:extLst>
          </p:cNvPr>
          <p:cNvSpPr txBox="1"/>
          <p:nvPr/>
        </p:nvSpPr>
        <p:spPr>
          <a:xfrm>
            <a:off x="17807426" y="12479144"/>
            <a:ext cx="4597400" cy="394208"/>
          </a:xfrm>
          <a:prstGeom prst="rect">
            <a:avLst/>
          </a:prstGeom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33" i="1" dirty="0">
                <a:solidFill>
                  <a:srgbClr val="24370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한국정보통신자격협회</a:t>
            </a:r>
            <a:endParaRPr kumimoji="0" lang="ko-KR" altLang="en-US" sz="1733" b="0" i="1" u="none" strike="noStrike" kern="1200" cap="none" spc="0" normalizeH="0" baseline="0" noProof="0" dirty="0">
              <a:ln>
                <a:noFill/>
              </a:ln>
              <a:solidFill>
                <a:srgbClr val="24370F"/>
              </a:solidFill>
              <a:effectLst/>
              <a:uLnTx/>
              <a:uFillTx/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7441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9D00-FDD9-65C7-67D5-375510481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F1B5C1F5-D8C0-037A-CCE0-180E4F90650B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custGeom>
            <a:avLst/>
            <a:gdLst>
              <a:gd name="connsiteX0" fmla="*/ 360600 w 24384000"/>
              <a:gd name="connsiteY0" fmla="*/ 360000 h 13716000"/>
              <a:gd name="connsiteX1" fmla="*/ 360600 w 24384000"/>
              <a:gd name="connsiteY1" fmla="*/ 13356000 h 13716000"/>
              <a:gd name="connsiteX2" fmla="*/ 24023400 w 24384000"/>
              <a:gd name="connsiteY2" fmla="*/ 13356000 h 13716000"/>
              <a:gd name="connsiteX3" fmla="*/ 24023400 w 24384000"/>
              <a:gd name="connsiteY3" fmla="*/ 360000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360600" y="360000"/>
                </a:moveTo>
                <a:lnTo>
                  <a:pt x="360600" y="13356000"/>
                </a:lnTo>
                <a:lnTo>
                  <a:pt x="24023400" y="13356000"/>
                </a:lnTo>
                <a:lnTo>
                  <a:pt x="24023400" y="360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A49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66D6002-5378-3180-9315-AD418B64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20955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30D6FAB-18A7-C06C-8C06-3983BC729584}"/>
              </a:ext>
            </a:extLst>
          </p:cNvPr>
          <p:cNvSpPr txBox="1"/>
          <p:nvPr/>
        </p:nvSpPr>
        <p:spPr>
          <a:xfrm>
            <a:off x="2630011" y="937037"/>
            <a:ext cx="4481735" cy="889000"/>
          </a:xfrm>
          <a:prstGeom prst="rect">
            <a:avLst/>
          </a:prstGeom>
        </p:spPr>
        <p:txBody>
          <a:bodyPr lIns="0" tIns="63762" rIns="0" bIns="63762" rtlCol="0" anchor="ctr"/>
          <a:lstStyle/>
          <a:p>
            <a:pPr lvl="0" algn="l">
              <a:lnSpc>
                <a:spcPct val="99600"/>
              </a:lnSpc>
            </a:pPr>
            <a:r>
              <a:rPr lang="en" sz="5020" b="0" i="0" u="none" strike="noStrike" dirty="0">
                <a:solidFill>
                  <a:srgbClr val="FFFFFF"/>
                </a:solidFill>
                <a:latin typeface="Gmarket Sans Bold"/>
              </a:rPr>
              <a:t>On-Prem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04F30B-AE72-0C94-9FB1-5D48C5591695}"/>
              </a:ext>
            </a:extLst>
          </p:cNvPr>
          <p:cNvSpPr txBox="1"/>
          <p:nvPr/>
        </p:nvSpPr>
        <p:spPr>
          <a:xfrm>
            <a:off x="2362199" y="400716"/>
            <a:ext cx="4229007" cy="495300"/>
          </a:xfrm>
          <a:prstGeom prst="rect">
            <a:avLst/>
          </a:prstGeom>
        </p:spPr>
        <p:txBody>
          <a:bodyPr lIns="0" tIns="35293" rIns="0" bIns="35293" rtlCol="0" anchor="ctr"/>
          <a:lstStyle/>
          <a:p>
            <a:pPr lvl="0" algn="l">
              <a:lnSpc>
                <a:spcPct val="99600"/>
              </a:lnSpc>
            </a:pP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Project Side 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4D64399-4D4E-524B-79AD-BC5A3C97DBB9}"/>
              </a:ext>
            </a:extLst>
          </p:cNvPr>
          <p:cNvSpPr txBox="1"/>
          <p:nvPr/>
        </p:nvSpPr>
        <p:spPr>
          <a:xfrm>
            <a:off x="1054100" y="2667000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프로젝트 소개 및 역할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E52096-C488-FC21-06A7-CA256C8AC2A0}"/>
              </a:ext>
            </a:extLst>
          </p:cNvPr>
          <p:cNvSpPr txBox="1"/>
          <p:nvPr/>
        </p:nvSpPr>
        <p:spPr>
          <a:xfrm>
            <a:off x="1645919" y="6958297"/>
            <a:ext cx="9860153" cy="3065178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3669"/>
              </a:lnSpc>
            </a:pPr>
            <a:r>
              <a:rPr lang="ko-KR" altLang="en-US" sz="2399" spc="-96" dirty="0">
                <a:latin typeface="Gmarket Sans Bold" panose="020B0600000101010101" charset="-127"/>
                <a:ea typeface="Gmarket Sans Bold" panose="020B0600000101010101" charset="-127"/>
              </a:rPr>
              <a:t>환경 구성</a:t>
            </a: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lvl="0">
              <a:lnSpc>
                <a:spcPct val="123669"/>
              </a:lnSpc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	VirtualBox (5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대 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VM) + GNS3 (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외부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: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라우터 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1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대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내부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: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스위치 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1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대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) </a:t>
            </a:r>
          </a:p>
          <a:p>
            <a:pPr lvl="0">
              <a:lnSpc>
                <a:spcPct val="123669"/>
              </a:lnSpc>
            </a:pP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3</a:t>
            </a:r>
            <a:r>
              <a:rPr lang="ko-KR" altLang="en-US" sz="2399" spc="-96" dirty="0" err="1">
                <a:latin typeface="Gmarket Sans Bold" panose="020B0600000101010101" charset="-127"/>
                <a:ea typeface="Gmarket Sans Bold" panose="020B0600000101010101" charset="-127"/>
              </a:rPr>
              <a:t>티어</a:t>
            </a:r>
            <a:r>
              <a:rPr lang="ko-KR" altLang="en-US" sz="2399" spc="-96" dirty="0">
                <a:latin typeface="Gmarket Sans Bold" panose="020B0600000101010101" charset="-127"/>
                <a:ea typeface="Gmarket Sans Bold" panose="020B0600000101010101" charset="-127"/>
              </a:rPr>
              <a:t> 웹 서비스</a:t>
            </a: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:  </a:t>
            </a:r>
          </a:p>
          <a:p>
            <a:pPr lvl="0">
              <a:lnSpc>
                <a:spcPct val="123669"/>
              </a:lnSpc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	WEB(Nginx) +  WAS(Apache/PHP + Redis)  +  MariaDB</a:t>
            </a:r>
          </a:p>
          <a:p>
            <a:pPr lvl="0">
              <a:lnSpc>
                <a:spcPct val="123669"/>
              </a:lnSpc>
            </a:pP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로그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수집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및 모니터링 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lvl="1">
              <a:lnSpc>
                <a:spcPct val="123669"/>
              </a:lnSpc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Elastic Stack (Elasticsearch, Logstash, Kibana) · </a:t>
            </a:r>
            <a:r>
              <a:rPr lang="en-US" altLang="ko-KR" sz="2000" spc="-96" dirty="0" err="1">
                <a:latin typeface="Gmarket Sans Medium" panose="020B0600000101010101" charset="-127"/>
                <a:ea typeface="Gmarket Sans Medium" panose="020B0600000101010101" charset="-127"/>
              </a:rPr>
              <a:t>Rsyslog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 · </a:t>
            </a:r>
            <a:r>
              <a:rPr lang="en-US" altLang="ko-KR" sz="2000" spc="-96" dirty="0" err="1">
                <a:latin typeface="Gmarket Sans Medium" panose="020B0600000101010101" charset="-127"/>
                <a:ea typeface="Gmarket Sans Medium" panose="020B0600000101010101" charset="-127"/>
              </a:rPr>
              <a:t>Metricbeat</a:t>
            </a:r>
            <a:endParaRPr lang="en-US" altLang="ko-KR" sz="2000" spc="-96" dirty="0"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C1D423-3806-81F1-4BA6-29AF60E80EE4}"/>
              </a:ext>
            </a:extLst>
          </p:cNvPr>
          <p:cNvSpPr txBox="1"/>
          <p:nvPr/>
        </p:nvSpPr>
        <p:spPr>
          <a:xfrm>
            <a:off x="1054100" y="6224873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핵심 요소</a:t>
            </a:r>
            <a:r>
              <a:rPr lang="en-US" altLang="ko-KR" sz="3600" b="0" i="0" u="none" strike="noStrike" spc="-88" dirty="0">
                <a:solidFill>
                  <a:srgbClr val="2A49E8"/>
                </a:solidFill>
                <a:ea typeface="Gmarket Sans Bold"/>
              </a:rPr>
              <a:t>(</a:t>
            </a:r>
            <a:r>
              <a:rPr lang="ko-KR" altLang="en-US" sz="3600" b="0" i="0" u="none" strike="noStrike" spc="-88" dirty="0" err="1">
                <a:solidFill>
                  <a:srgbClr val="2A49E8"/>
                </a:solidFill>
                <a:ea typeface="Gmarket Sans Bold"/>
              </a:rPr>
              <a:t>기술스택</a:t>
            </a:r>
            <a:r>
              <a:rPr lang="en-US" altLang="ko-KR" sz="3600" b="0" i="0" u="none" strike="noStrike" spc="-88" dirty="0">
                <a:solidFill>
                  <a:srgbClr val="2A49E8"/>
                </a:solidFill>
                <a:ea typeface="Gmarket Sans Bold"/>
              </a:rPr>
              <a:t>)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DE05C7-3204-FAEC-CE5E-B1443CFC2CFD}"/>
              </a:ext>
            </a:extLst>
          </p:cNvPr>
          <p:cNvSpPr txBox="1"/>
          <p:nvPr/>
        </p:nvSpPr>
        <p:spPr>
          <a:xfrm>
            <a:off x="1054100" y="9763125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프로젝트 결과 및</a:t>
            </a:r>
            <a:r>
              <a:rPr lang="en-US" altLang="ko-KR" sz="3600" b="0" i="0" u="none" strike="noStrike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성장  포인트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  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pic>
        <p:nvPicPr>
          <p:cNvPr id="21" name="그림 개체 틀 20">
            <a:extLst>
              <a:ext uri="{FF2B5EF4-FFF2-40B4-BE49-F238E27FC236}">
                <a16:creationId xmlns:a16="http://schemas.microsoft.com/office/drawing/2014/main" id="{3A5F2C7B-9FB3-1D93-1E71-112F1416CB4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 t="-1" r="-648" b="-839"/>
          <a:stretch>
            <a:fillRect/>
          </a:stretch>
        </p:blipFill>
        <p:spPr>
          <a:xfrm>
            <a:off x="11581578" y="3127796"/>
            <a:ext cx="12152352" cy="6635329"/>
          </a:xfrm>
          <a:ln w="28575">
            <a:solidFill>
              <a:schemeClr val="tx1"/>
            </a:solidFill>
          </a:ln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7C82AAF8-366F-5A2F-34B3-781F109422D1}"/>
              </a:ext>
            </a:extLst>
          </p:cNvPr>
          <p:cNvSpPr txBox="1"/>
          <p:nvPr/>
        </p:nvSpPr>
        <p:spPr>
          <a:xfrm>
            <a:off x="11391900" y="9899189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defRPr/>
            </a:pPr>
            <a:r>
              <a:rPr lang="en-US" altLang="ko-KR" sz="3600" b="1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Solution</a:t>
            </a:r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6D758866-1C0C-3539-90B7-F061F0AB4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22" y="185133"/>
            <a:ext cx="1714500" cy="168910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919B29C5-953D-62E5-5EB9-B703F0BF7CCF}"/>
              </a:ext>
            </a:extLst>
          </p:cNvPr>
          <p:cNvSpPr txBox="1"/>
          <p:nvPr/>
        </p:nvSpPr>
        <p:spPr>
          <a:xfrm>
            <a:off x="1579342" y="4465876"/>
            <a:ext cx="2459258" cy="1485853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r>
              <a:rPr lang="en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작업기간</a:t>
            </a:r>
          </a:p>
          <a:p>
            <a:pPr lvl="0" algn="l">
              <a:lnSpc>
                <a:spcPct val="123669"/>
              </a:lnSpc>
            </a:pPr>
            <a:r>
              <a:rPr lang="en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참여인원</a:t>
            </a:r>
          </a:p>
          <a:p>
            <a:pPr lvl="0" algn="l">
              <a:lnSpc>
                <a:spcPct val="123669"/>
              </a:lnSpc>
            </a:pPr>
            <a:r>
              <a:rPr lang="ko-KR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작업</a:t>
            </a:r>
            <a:r>
              <a:rPr lang="en-US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altLang="en-US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역할</a:t>
            </a:r>
            <a:endParaRPr lang="ko-KR" sz="2400" b="0" i="0" u="none" strike="noStrike" spc="-56" dirty="0">
              <a:solidFill>
                <a:srgbClr val="000000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3" name="TextBox 37">
            <a:extLst>
              <a:ext uri="{FF2B5EF4-FFF2-40B4-BE49-F238E27FC236}">
                <a16:creationId xmlns:a16="http://schemas.microsoft.com/office/drawing/2014/main" id="{1B7F19DD-08B9-ECDA-837F-B73D991E9BBF}"/>
              </a:ext>
            </a:extLst>
          </p:cNvPr>
          <p:cNvSpPr txBox="1"/>
          <p:nvPr/>
        </p:nvSpPr>
        <p:spPr>
          <a:xfrm>
            <a:off x="1554594" y="3373676"/>
            <a:ext cx="10180206" cy="118889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en" sz="2200" b="0" i="0" u="none" strike="noStrike" spc="-56" dirty="0">
                <a:solidFill>
                  <a:srgbClr val="0F0F0E"/>
                </a:solidFill>
                <a:latin typeface="Gmarket Sans Bold"/>
              </a:rPr>
              <a:t>PROJECT GOAL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Bold"/>
              </a:rPr>
              <a:t>:</a:t>
            </a:r>
          </a:p>
          <a:p>
            <a:pPr lvl="0" algn="l">
              <a:lnSpc>
                <a:spcPct val="123669"/>
              </a:lnSpc>
            </a:pP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 </a:t>
            </a:r>
            <a:r>
              <a:rPr lang="ko-KR" altLang="en-US" sz="2200" b="0" i="0" u="none" strike="noStrike" spc="-56" dirty="0" err="1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모놀리식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웹서비스를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3-Tier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아키텍처로 전환하여 트래픽 대응성과 가용성을 강화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r>
              <a:rPr lang="en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9A56ECF-A1F1-AFA5-1DD3-BEF250977B0C}"/>
              </a:ext>
            </a:extLst>
          </p:cNvPr>
          <p:cNvSpPr txBox="1"/>
          <p:nvPr/>
        </p:nvSpPr>
        <p:spPr>
          <a:xfrm>
            <a:off x="3597910" y="4469144"/>
            <a:ext cx="7222490" cy="1485853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2400" dirty="0">
                <a:latin typeface="Gmarket Sans Medium" panose="020B0600000101010101" charset="-127"/>
                <a:ea typeface="Gmarket Sans Medium" panose="020B0600000101010101" charset="-127"/>
              </a:rPr>
              <a:t>2025.03.06 ~ 03.18 (2</a:t>
            </a:r>
            <a:r>
              <a:rPr lang="ko-KR" altLang="en-US" sz="2400" dirty="0">
                <a:latin typeface="Gmarket Sans Medium" panose="020B0600000101010101" charset="-127"/>
                <a:ea typeface="Gmarket Sans Medium" panose="020B0600000101010101" charset="-127"/>
              </a:rPr>
              <a:t>주</a:t>
            </a:r>
            <a:r>
              <a:rPr lang="en-US" altLang="ko-KR" sz="2400" dirty="0">
                <a:latin typeface="Gmarket Sans Medium" panose="020B0600000101010101" charset="-127"/>
                <a:ea typeface="Gmarket Sans Medium" panose="020B0600000101010101" charset="-127"/>
              </a:rPr>
              <a:t>)</a:t>
            </a:r>
            <a:endParaRPr lang="en" sz="2400" b="0" i="0" u="none" strike="noStrike" spc="-56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l">
              <a:lnSpc>
                <a:spcPct val="123669"/>
              </a:lnSpc>
            </a:pPr>
            <a:r>
              <a:rPr lang="en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3</a:t>
            </a:r>
            <a:r>
              <a:rPr lang="ko-KR" altLang="en-US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인 </a:t>
            </a:r>
            <a:r>
              <a:rPr lang="en-US" altLang="ko-KR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/ </a:t>
            </a:r>
            <a:r>
              <a:rPr lang="ko-KR" altLang="en-US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팀원 참여</a:t>
            </a:r>
            <a:endParaRPr lang="en" sz="2400" b="0" i="0" u="none" strike="noStrike" spc="-56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l">
              <a:lnSpc>
                <a:spcPct val="123669"/>
              </a:lnSpc>
            </a:pP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아키텍처 구성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(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팀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) 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및 로그 수집 설계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(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개인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)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ko-KR" sz="2400" b="0" i="0" u="none" strike="noStrike" spc="-56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E0309D12-8EA6-188D-55DA-956C6B1DF2AA}"/>
              </a:ext>
            </a:extLst>
          </p:cNvPr>
          <p:cNvSpPr txBox="1"/>
          <p:nvPr/>
        </p:nvSpPr>
        <p:spPr>
          <a:xfrm>
            <a:off x="7797927" y="614172"/>
            <a:ext cx="16814800" cy="8763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ko-KR" altLang="en-US" sz="2800" spc="-96" dirty="0" err="1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메가존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클라우드 전문가 양성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과정 중 수행한 팀 프로젝트로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lvl="0">
              <a:lnSpc>
                <a:spcPct val="123669"/>
              </a:lnSpc>
            </a:pP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온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-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프레미스 기반 웹 서비스 아키텍처를 구축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C6B83F94-BF46-72FD-7C43-E50BD6010789}"/>
              </a:ext>
            </a:extLst>
          </p:cNvPr>
          <p:cNvSpPr txBox="1"/>
          <p:nvPr/>
        </p:nvSpPr>
        <p:spPr>
          <a:xfrm>
            <a:off x="1554594" y="10419889"/>
            <a:ext cx="11170806" cy="178659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spc="-96" dirty="0">
                <a:latin typeface="Gmarket Sans Medium" panose="020B0600000101010101" charset="-127"/>
                <a:ea typeface="Gmarket Sans Medium" panose="020B0600000101010101" charset="-127"/>
              </a:rPr>
              <a:t>문제 발생 시 로그 중심으로 분석하는 사고 방식 습득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spc="-96" dirty="0">
                <a:latin typeface="Gmarket Sans Medium" panose="020B0600000101010101" charset="-127"/>
                <a:ea typeface="Gmarket Sans Medium" panose="020B0600000101010101" charset="-127"/>
              </a:rPr>
              <a:t>장애를 “발생 직후 탐지 → 원인 분리 → 재발 방지” 로 이어가는 </a:t>
            </a:r>
            <a:br>
              <a:rPr lang="en-US" altLang="ko-KR" sz="2400" spc="-96" dirty="0">
                <a:latin typeface="Gmarket Sans Medium" panose="020B0600000101010101" charset="-127"/>
                <a:ea typeface="Gmarket Sans Medium" panose="020B0600000101010101" charset="-127"/>
              </a:rPr>
            </a:br>
            <a:r>
              <a:rPr lang="ko-KR" altLang="en-US" sz="2400" spc="-96" dirty="0">
                <a:latin typeface="Gmarket Sans Medium" panose="020B0600000101010101" charset="-127"/>
                <a:ea typeface="Gmarket Sans Medium" panose="020B0600000101010101" charset="-127"/>
              </a:rPr>
              <a:t>운영 자동화 관점 체득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spc="-96" dirty="0">
                <a:latin typeface="Gmarket Sans Medium" panose="020B0600000101010101" charset="-127"/>
                <a:ea typeface="Gmarket Sans Medium" panose="020B0600000101010101" charset="-127"/>
              </a:rPr>
              <a:t>협업 중 표준화된 네이밍 규칙 및 로그 포맷의 중요성 인지</a:t>
            </a:r>
            <a:endParaRPr lang="en-US" altLang="ko-KR" sz="2400" spc="-96" dirty="0"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5" name="사각형: 둥근 모서리 4">
            <a:hlinkClick r:id="rId6"/>
            <a:extLst>
              <a:ext uri="{FF2B5EF4-FFF2-40B4-BE49-F238E27FC236}">
                <a16:creationId xmlns:a16="http://schemas.microsoft.com/office/drawing/2014/main" id="{0B1BD08B-AE48-EC1F-A3B0-0F36AF29993C}"/>
              </a:ext>
            </a:extLst>
          </p:cNvPr>
          <p:cNvSpPr/>
          <p:nvPr/>
        </p:nvSpPr>
        <p:spPr>
          <a:xfrm>
            <a:off x="20128458" y="613446"/>
            <a:ext cx="3048822" cy="889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Gmarket Sans Bold" panose="020B0600000101010101" charset="-127"/>
                <a:ea typeface="Gmarket Sans Bold" panose="020B0600000101010101" charset="-127"/>
              </a:rPr>
              <a:t>발표용 </a:t>
            </a:r>
            <a:r>
              <a:rPr lang="en-US" altLang="ko-KR" sz="3600" dirty="0">
                <a:latin typeface="Gmarket Sans Bold" panose="020B0600000101010101" charset="-127"/>
                <a:ea typeface="Gmarket Sans Bold" panose="020B0600000101010101" charset="-127"/>
              </a:rPr>
              <a:t>PPT</a:t>
            </a:r>
            <a:endParaRPr lang="ko-KR" altLang="en-US" sz="3600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E37D5FD-16B1-CDE6-3B49-BB325C35B6DB}"/>
              </a:ext>
            </a:extLst>
          </p:cNvPr>
          <p:cNvSpPr txBox="1"/>
          <p:nvPr/>
        </p:nvSpPr>
        <p:spPr>
          <a:xfrm>
            <a:off x="11753393" y="10404443"/>
            <a:ext cx="12041244" cy="2290994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On-Prem </a:t>
            </a:r>
            <a:r>
              <a:rPr lang="ko-KR" altLang="en-US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구현 </a:t>
            </a:r>
            <a:r>
              <a:rPr lang="en-US" altLang="ko-KR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3</a:t>
            </a:r>
            <a:r>
              <a:rPr lang="ko-KR" altLang="en-US" sz="2000" b="1" spc="-96" dirty="0" err="1">
                <a:latin typeface="Gmarket Sans Medium" panose="020B0600000101010101" charset="-127"/>
                <a:ea typeface="Gmarket Sans Medium" panose="020B0600000101010101" charset="-127"/>
              </a:rPr>
              <a:t>티어</a:t>
            </a:r>
            <a:r>
              <a:rPr lang="ko-KR" altLang="en-US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 웹 서비스 </a:t>
            </a:r>
            <a:endParaRPr lang="en-US" altLang="ko-KR" sz="2000" b="1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가용성 </a:t>
            </a:r>
            <a:r>
              <a:rPr lang="ko-KR" altLang="en-US" sz="2000" b="1" spc="-96" dirty="0" err="1">
                <a:latin typeface="Gmarket Sans Bold" panose="020B0600000101010101" charset="-127"/>
                <a:ea typeface="Gmarket Sans Bold" panose="020B0600000101010101" charset="-127"/>
              </a:rPr>
              <a:t>트랙픽</a:t>
            </a:r>
            <a:r>
              <a:rPr lang="ko-KR" altLang="en-US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 분산 </a:t>
            </a:r>
            <a:r>
              <a:rPr lang="en-US" altLang="ko-KR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LB + WAS </a:t>
            </a:r>
            <a:r>
              <a:rPr lang="ko-KR" altLang="en-US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이중화 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+ Redis </a:t>
            </a:r>
            <a:r>
              <a:rPr lang="ko-KR" altLang="en-US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세션 공유</a:t>
            </a:r>
            <a:endParaRPr lang="en-US" altLang="ko-KR" sz="2000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2000" b="1" spc="-96" dirty="0">
                <a:latin typeface="Gmarket Sans Bold" panose="020B0600000101010101" charset="-127"/>
                <a:ea typeface="Gmarket Sans Bold" panose="020B0600000101010101" charset="-127"/>
              </a:rPr>
              <a:t>실시간 모니터링 </a:t>
            </a:r>
            <a:r>
              <a:rPr lang="en-US" altLang="ko-KR" sz="2000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ELK + </a:t>
            </a:r>
            <a:r>
              <a:rPr lang="en-US" altLang="ko-KR" sz="2000" b="1" spc="-96" dirty="0" err="1">
                <a:latin typeface="Gmarket Sans Medium" panose="020B0600000101010101" charset="-127"/>
                <a:ea typeface="Gmarket Sans Medium" panose="020B0600000101010101" charset="-127"/>
              </a:rPr>
              <a:t>Rsyslog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 + </a:t>
            </a:r>
            <a:r>
              <a:rPr lang="en-US" altLang="ko-KR" sz="2000" b="1" spc="-96" dirty="0" err="1">
                <a:latin typeface="Gmarket Sans Medium" panose="020B0600000101010101" charset="-127"/>
                <a:ea typeface="Gmarket Sans Medium" panose="020B0600000101010101" charset="-127"/>
              </a:rPr>
              <a:t>Metricbeat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중앙 로깅</a:t>
            </a:r>
            <a:r>
              <a:rPr lang="en-US" altLang="ko-KR" sz="2000" b="1" spc="-96" dirty="0">
                <a:latin typeface="Gmarket Sans Medium" panose="020B0600000101010101" charset="-127"/>
                <a:ea typeface="Gmarket Sans Medium" panose="020B0600000101010101" charset="-127"/>
              </a:rPr>
              <a:t>.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서버 상태와 로그를 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Kibana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대시보드로 지표 가시화 및 문제 원인 즉시 파악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en-US" sz="2000" b="0" i="0" u="none" strike="noStrike" spc="-96" dirty="0"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A707C-2612-5EAC-4CEA-7329378325AB}"/>
              </a:ext>
            </a:extLst>
          </p:cNvPr>
          <p:cNvSpPr txBox="1"/>
          <p:nvPr/>
        </p:nvSpPr>
        <p:spPr>
          <a:xfrm>
            <a:off x="11379200" y="2427986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아키텍처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CE87802-8FF3-FF92-5B1D-5BC1E866D937}"/>
              </a:ext>
            </a:extLst>
          </p:cNvPr>
          <p:cNvGrpSpPr/>
          <p:nvPr/>
        </p:nvGrpSpPr>
        <p:grpSpPr>
          <a:xfrm>
            <a:off x="536639" y="875370"/>
            <a:ext cx="1399667" cy="540000"/>
            <a:chOff x="469255" y="875370"/>
            <a:chExt cx="1399667" cy="54000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CD6BAEA-8611-13BE-D34A-2910EB8FF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327"/>
            <a:stretch>
              <a:fillRect/>
            </a:stretch>
          </p:blipFill>
          <p:spPr>
            <a:xfrm>
              <a:off x="1360054" y="875370"/>
              <a:ext cx="508868" cy="540000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899C508-F632-EFAB-CA43-33E655087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255" y="875370"/>
              <a:ext cx="630841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903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3676-7430-9CA4-D6D7-2943A505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C36238D8-6CB1-B4D0-56FA-BFC2D5F1C947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custGeom>
            <a:avLst/>
            <a:gdLst>
              <a:gd name="connsiteX0" fmla="*/ 360600 w 24384000"/>
              <a:gd name="connsiteY0" fmla="*/ 360000 h 13716000"/>
              <a:gd name="connsiteX1" fmla="*/ 360600 w 24384000"/>
              <a:gd name="connsiteY1" fmla="*/ 13356000 h 13716000"/>
              <a:gd name="connsiteX2" fmla="*/ 24023400 w 24384000"/>
              <a:gd name="connsiteY2" fmla="*/ 13356000 h 13716000"/>
              <a:gd name="connsiteX3" fmla="*/ 24023400 w 24384000"/>
              <a:gd name="connsiteY3" fmla="*/ 360000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360600" y="360000"/>
                </a:moveTo>
                <a:lnTo>
                  <a:pt x="360600" y="13356000"/>
                </a:lnTo>
                <a:lnTo>
                  <a:pt x="24023400" y="13356000"/>
                </a:lnTo>
                <a:lnTo>
                  <a:pt x="24023400" y="360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A49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FB7E17B-F404-6A84-6253-1EBC060FF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2095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0CF8ACA-8267-E988-D250-64614A320069}"/>
              </a:ext>
            </a:extLst>
          </p:cNvPr>
          <p:cNvSpPr txBox="1"/>
          <p:nvPr/>
        </p:nvSpPr>
        <p:spPr>
          <a:xfrm>
            <a:off x="7797927" y="614172"/>
            <a:ext cx="16814800" cy="8763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 err="1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메가존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클라우드 전문가 양성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과정 중 수행한 팀 프로젝트로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lvl="0">
              <a:lnSpc>
                <a:spcPct val="123669"/>
              </a:lnSpc>
            </a:pP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AWS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클라우드를 활용한 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VDI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서비스 및 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AI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기능 통합 환경을 구축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382A4EA-1DAB-280E-7886-1CC500EC25DD}"/>
              </a:ext>
            </a:extLst>
          </p:cNvPr>
          <p:cNvSpPr txBox="1"/>
          <p:nvPr/>
        </p:nvSpPr>
        <p:spPr>
          <a:xfrm>
            <a:off x="1054100" y="2667000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프로젝트 소개 및 역할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08DE05FE-C02B-D070-3ED5-EEF91F1D3E26}"/>
              </a:ext>
            </a:extLst>
          </p:cNvPr>
          <p:cNvSpPr txBox="1"/>
          <p:nvPr/>
        </p:nvSpPr>
        <p:spPr>
          <a:xfrm>
            <a:off x="2362200" y="400716"/>
            <a:ext cx="5207000" cy="495300"/>
          </a:xfrm>
          <a:prstGeom prst="rect">
            <a:avLst/>
          </a:prstGeom>
        </p:spPr>
        <p:txBody>
          <a:bodyPr lIns="0" tIns="35293" rIns="0" bIns="35293" rtlCol="0" anchor="ctr"/>
          <a:lstStyle/>
          <a:p>
            <a:pPr lvl="0">
              <a:lnSpc>
                <a:spcPct val="99600"/>
              </a:lnSpc>
            </a:pP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Project </a:t>
            </a:r>
            <a:r>
              <a:rPr lang="en" altLang="ko-KR" sz="2778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Side</a:t>
            </a: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 2</a:t>
            </a:r>
          </a:p>
        </p:txBody>
      </p:sp>
      <p:pic>
        <p:nvPicPr>
          <p:cNvPr id="28" name="Picture 8">
            <a:extLst>
              <a:ext uri="{FF2B5EF4-FFF2-40B4-BE49-F238E27FC236}">
                <a16:creationId xmlns:a16="http://schemas.microsoft.com/office/drawing/2014/main" id="{57E8958F-D012-724D-4293-8671A47EE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22" y="185133"/>
            <a:ext cx="1714500" cy="1689100"/>
          </a:xfrm>
          <a:prstGeom prst="rect">
            <a:avLst/>
          </a:prstGeom>
        </p:spPr>
      </p:pic>
      <p:sp>
        <p:nvSpPr>
          <p:cNvPr id="3" name="TextBox 37">
            <a:extLst>
              <a:ext uri="{FF2B5EF4-FFF2-40B4-BE49-F238E27FC236}">
                <a16:creationId xmlns:a16="http://schemas.microsoft.com/office/drawing/2014/main" id="{5C00AB28-2932-8C10-0A69-02F896F666E9}"/>
              </a:ext>
            </a:extLst>
          </p:cNvPr>
          <p:cNvSpPr txBox="1"/>
          <p:nvPr/>
        </p:nvSpPr>
        <p:spPr>
          <a:xfrm>
            <a:off x="1295400" y="3373676"/>
            <a:ext cx="9799206" cy="118889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en" sz="2200" b="0" i="0" u="none" strike="noStrike" spc="-56" dirty="0">
                <a:solidFill>
                  <a:srgbClr val="0F0F0E"/>
                </a:solidFill>
                <a:latin typeface="Gmarket Sans Bold"/>
              </a:rPr>
              <a:t>PROJECT GOAL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Bold"/>
              </a:rPr>
              <a:t>:</a:t>
            </a:r>
          </a:p>
          <a:p>
            <a:pPr lvl="0" algn="l">
              <a:lnSpc>
                <a:spcPct val="123669"/>
              </a:lnSpc>
            </a:pP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보안 규제 대응과 내부 문서 활용 고도화를 위해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VDI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기반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AI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업무 환경을 구축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lvl="0" algn="l">
              <a:lnSpc>
                <a:spcPct val="123669"/>
              </a:lnSpc>
            </a:pPr>
            <a:r>
              <a:rPr lang="en" sz="2200" b="0" i="0" u="none" strike="noStrike" spc="-56" dirty="0">
                <a:solidFill>
                  <a:srgbClr val="0F0F0E"/>
                </a:solidFill>
                <a:latin typeface="Gmarket Sans Bold"/>
              </a:rPr>
              <a:t> 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2F0C427B-E656-1C40-419A-07D1018B39D3}"/>
              </a:ext>
            </a:extLst>
          </p:cNvPr>
          <p:cNvSpPr txBox="1"/>
          <p:nvPr/>
        </p:nvSpPr>
        <p:spPr>
          <a:xfrm>
            <a:off x="2630011" y="937037"/>
            <a:ext cx="4481735" cy="889000"/>
          </a:xfrm>
          <a:prstGeom prst="rect">
            <a:avLst/>
          </a:prstGeom>
        </p:spPr>
        <p:txBody>
          <a:bodyPr lIns="0" tIns="63762" rIns="0" bIns="63762" rtlCol="0" anchor="ctr"/>
          <a:lstStyle/>
          <a:p>
            <a:pPr lvl="0">
              <a:lnSpc>
                <a:spcPct val="99600"/>
              </a:lnSpc>
            </a:pPr>
            <a:r>
              <a:rPr lang="en" altLang="ko-KR" sz="5020" dirty="0">
                <a:solidFill>
                  <a:srgbClr val="FFFFFF"/>
                </a:solidFill>
                <a:latin typeface="Gmarket Sans Bold"/>
              </a:rPr>
              <a:t>AWS Cloud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C296348A-A7A6-C410-6B14-E92E9D64ADFF}"/>
              </a:ext>
            </a:extLst>
          </p:cNvPr>
          <p:cNvSpPr txBox="1"/>
          <p:nvPr/>
        </p:nvSpPr>
        <p:spPr>
          <a:xfrm>
            <a:off x="1320148" y="4465876"/>
            <a:ext cx="1789841" cy="1485853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r>
              <a:rPr lang="en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작업기간</a:t>
            </a:r>
          </a:p>
          <a:p>
            <a:pPr lvl="0" algn="l">
              <a:lnSpc>
                <a:spcPct val="123669"/>
              </a:lnSpc>
            </a:pPr>
            <a:r>
              <a:rPr lang="en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참여인원</a:t>
            </a:r>
          </a:p>
          <a:p>
            <a:pPr lvl="0" algn="l">
              <a:lnSpc>
                <a:spcPct val="123669"/>
              </a:lnSpc>
            </a:pPr>
            <a:r>
              <a:rPr lang="ko-KR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작업</a:t>
            </a:r>
            <a:r>
              <a:rPr lang="en-US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altLang="en-US" sz="2400" b="0" i="0" u="none" strike="noStrike" spc="-56" dirty="0">
                <a:solidFill>
                  <a:srgbClr val="000000"/>
                </a:solidFill>
                <a:latin typeface="Gmarket Sans Bold" panose="020B0600000101010101" charset="-127"/>
                <a:ea typeface="Gmarket Sans Bold" panose="020B0600000101010101" charset="-127"/>
              </a:rPr>
              <a:t>역할</a:t>
            </a:r>
            <a:endParaRPr lang="ko-KR" sz="2400" b="0" i="0" u="none" strike="noStrike" spc="-56" dirty="0">
              <a:solidFill>
                <a:srgbClr val="000000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8DA91619-C4EE-1EDE-4BA3-ABEB8E426F3E}"/>
              </a:ext>
            </a:extLst>
          </p:cNvPr>
          <p:cNvSpPr txBox="1"/>
          <p:nvPr/>
        </p:nvSpPr>
        <p:spPr>
          <a:xfrm>
            <a:off x="3338716" y="4469144"/>
            <a:ext cx="7222490" cy="1485853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2400" dirty="0">
                <a:latin typeface="Gmarket Sans Medium" panose="020B0600000101010101" charset="-127"/>
                <a:ea typeface="Gmarket Sans Medium" panose="020B0600000101010101" charset="-127"/>
              </a:rPr>
              <a:t>2025.04.25 ~ 06.23 (</a:t>
            </a:r>
            <a:r>
              <a:rPr lang="ko-KR" altLang="en-US" sz="2400" dirty="0">
                <a:latin typeface="Gmarket Sans Medium" panose="020B0600000101010101" charset="-127"/>
                <a:ea typeface="Gmarket Sans Medium" panose="020B0600000101010101" charset="-127"/>
              </a:rPr>
              <a:t>약 </a:t>
            </a:r>
            <a:r>
              <a:rPr lang="en-US" altLang="ko-KR" sz="2400" dirty="0">
                <a:latin typeface="Gmarket Sans Medium" panose="020B0600000101010101" charset="-127"/>
                <a:ea typeface="Gmarket Sans Medium" panose="020B0600000101010101" charset="-127"/>
              </a:rPr>
              <a:t>2</a:t>
            </a:r>
            <a:r>
              <a:rPr lang="ko-KR" altLang="en-US" sz="2400" dirty="0">
                <a:latin typeface="Gmarket Sans Medium" panose="020B0600000101010101" charset="-127"/>
                <a:ea typeface="Gmarket Sans Medium" panose="020B0600000101010101" charset="-127"/>
              </a:rPr>
              <a:t>개월</a:t>
            </a:r>
            <a:r>
              <a:rPr lang="en-US" altLang="ko-KR" sz="2400" dirty="0">
                <a:latin typeface="Gmarket Sans Medium" panose="020B0600000101010101" charset="-127"/>
                <a:ea typeface="Gmarket Sans Medium" panose="020B0600000101010101" charset="-127"/>
              </a:rPr>
              <a:t>)</a:t>
            </a:r>
            <a:endParaRPr lang="en" sz="2400" b="0" i="0" u="none" strike="noStrike" spc="-56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l">
              <a:lnSpc>
                <a:spcPct val="123669"/>
              </a:lnSpc>
            </a:pPr>
            <a:r>
              <a:rPr lang="en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3</a:t>
            </a:r>
            <a:r>
              <a:rPr lang="ko-KR" altLang="en-US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인 </a:t>
            </a:r>
            <a:r>
              <a:rPr lang="en-US" altLang="ko-KR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/ </a:t>
            </a:r>
            <a:r>
              <a:rPr lang="ko-KR" altLang="en-US" sz="2400" b="0" i="0" u="none" strike="noStrike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팀원 참여</a:t>
            </a:r>
            <a:endParaRPr lang="en" sz="2400" b="0" i="0" u="none" strike="noStrike" spc="-56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l">
              <a:lnSpc>
                <a:spcPct val="123669"/>
              </a:lnSpc>
            </a:pP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아키텍처 구성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(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팀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) 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및 정적 웹사이트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AI 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담당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(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개인</a:t>
            </a:r>
            <a:r>
              <a:rPr lang="en-US" altLang="ko-KR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)</a:t>
            </a:r>
            <a:r>
              <a:rPr lang="ko-KR" altLang="en-US" sz="2400" spc="-56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ko-KR" sz="2400" b="0" i="0" u="none" strike="noStrike" spc="-56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8" name="사각형: 둥근 모서리 7">
            <a:hlinkClick r:id="rId4"/>
            <a:extLst>
              <a:ext uri="{FF2B5EF4-FFF2-40B4-BE49-F238E27FC236}">
                <a16:creationId xmlns:a16="http://schemas.microsoft.com/office/drawing/2014/main" id="{9A3568B3-7197-7E30-1586-3FB5BB801C17}"/>
              </a:ext>
            </a:extLst>
          </p:cNvPr>
          <p:cNvSpPr/>
          <p:nvPr/>
        </p:nvSpPr>
        <p:spPr>
          <a:xfrm>
            <a:off x="20128458" y="613446"/>
            <a:ext cx="3048822" cy="889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Gmarket Sans Bold" panose="020B0600000101010101" charset="-127"/>
                <a:ea typeface="Gmarket Sans Bold" panose="020B0600000101010101" charset="-127"/>
              </a:rPr>
              <a:t>발표용 </a:t>
            </a:r>
            <a:r>
              <a:rPr lang="en-US" altLang="ko-KR" sz="3600" dirty="0">
                <a:latin typeface="Gmarket Sans Bold" panose="020B0600000101010101" charset="-127"/>
                <a:ea typeface="Gmarket Sans Bold" panose="020B0600000101010101" charset="-127"/>
              </a:rPr>
              <a:t>PPT </a:t>
            </a:r>
            <a:endParaRPr lang="ko-KR" altLang="en-US" sz="3600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6D805BD-8258-496B-1F91-394B967FC2C2}"/>
              </a:ext>
            </a:extLst>
          </p:cNvPr>
          <p:cNvSpPr txBox="1"/>
          <p:nvPr/>
        </p:nvSpPr>
        <p:spPr>
          <a:xfrm>
            <a:off x="1386725" y="6752334"/>
            <a:ext cx="9799206" cy="2848866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VDI, 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사내 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WEB, 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대외 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WEB, AI, Logging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을 통합한 단일 아키텍처 설계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2400" spc="-96" dirty="0" err="1">
                <a:latin typeface="Gmarket Sans Medium" panose="020B0600000101010101" charset="-127"/>
                <a:ea typeface="Gmarket Sans Medium" panose="020B0600000101010101" charset="-127"/>
              </a:rPr>
              <a:t>WorkSpaces</a:t>
            </a:r>
            <a:r>
              <a:rPr lang="en-US" altLang="ko-KR" sz="2400" spc="-96" dirty="0">
                <a:latin typeface="Gmarket Sans Medium" panose="020B0600000101010101" charset="-127"/>
                <a:ea typeface="Gmarket Sans Medium" panose="020B0600000101010101" charset="-127"/>
              </a:rPr>
              <a:t> + Managed AD + </a:t>
            </a:r>
            <a:r>
              <a:rPr lang="en-US" altLang="ko-KR" sz="2400" spc="-96" dirty="0" err="1">
                <a:latin typeface="Gmarket Sans Medium" panose="020B0600000101010101" charset="-127"/>
                <a:ea typeface="Gmarket Sans Medium" panose="020B0600000101010101" charset="-127"/>
              </a:rPr>
              <a:t>FreeRADIUS</a:t>
            </a:r>
            <a:r>
              <a:rPr lang="ko-KR" altLang="en-US" sz="2400" spc="-96" dirty="0">
                <a:latin typeface="Gmarket Sans Medium" panose="020B0600000101010101" charset="-127"/>
                <a:ea typeface="Gmarket Sans Medium" panose="020B0600000101010101" charset="-127"/>
              </a:rPr>
              <a:t>로 사용자 인증 일원화</a:t>
            </a:r>
            <a:r>
              <a:rPr lang="en-US" altLang="ko-KR" sz="24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Kendra + Bedrock 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기반 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RAG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로 문서 검색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·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요약 자동화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2400" spc="-96" dirty="0">
                <a:latin typeface="Gmarket Sans Medium" panose="020B0600000101010101" charset="-127"/>
                <a:ea typeface="Gmarket Sans Medium" panose="020B0600000101010101" charset="-127"/>
              </a:rPr>
              <a:t>CloudWatch–Firehose–Athena </a:t>
            </a:r>
            <a:r>
              <a:rPr lang="ko-KR" altLang="en-US" sz="2400" spc="-96" dirty="0">
                <a:latin typeface="Gmarket Sans Medium" panose="020B0600000101010101" charset="-127"/>
                <a:ea typeface="Gmarket Sans Medium" panose="020B0600000101010101" charset="-127"/>
              </a:rPr>
              <a:t>파이프라인으로 로그 가시화</a:t>
            </a:r>
            <a:endParaRPr lang="en-US" altLang="ko-KR" sz="2400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MS Entra ID 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연동을 통한 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M365 Connector </a:t>
            </a:r>
            <a:r>
              <a:rPr lang="ko-KR" altLang="en-US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인증 구조 구현</a:t>
            </a:r>
            <a:r>
              <a:rPr lang="en-US" altLang="ko-KR" sz="2400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en-US" altLang="ko-KR" sz="2000" spc="-96" dirty="0">
              <a:highlight>
                <a:srgbClr val="FFFF00"/>
              </a:highlight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771C8108-F737-7D4E-EB60-9373D8A859D1}"/>
              </a:ext>
            </a:extLst>
          </p:cNvPr>
          <p:cNvSpPr txBox="1"/>
          <p:nvPr/>
        </p:nvSpPr>
        <p:spPr>
          <a:xfrm>
            <a:off x="1054100" y="6270683"/>
            <a:ext cx="4737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defRPr/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en-US" altLang="ko-KR" sz="3600" b="1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Solution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1074DC88-4BD5-EBCC-35F3-A052DF2ED2E6}"/>
              </a:ext>
            </a:extLst>
          </p:cNvPr>
          <p:cNvSpPr txBox="1"/>
          <p:nvPr/>
        </p:nvSpPr>
        <p:spPr>
          <a:xfrm>
            <a:off x="1054100" y="9763125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프로젝트 결과 및</a:t>
            </a:r>
            <a:r>
              <a:rPr lang="en-US" altLang="ko-KR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성장  포인트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 </a:t>
            </a:r>
            <a:endParaRPr lang="ko-KR" altLang="ko-KR" sz="3600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F51B0DD6-C4F2-F92C-AF63-21E67619EE3D}"/>
              </a:ext>
            </a:extLst>
          </p:cNvPr>
          <p:cNvSpPr txBox="1"/>
          <p:nvPr/>
        </p:nvSpPr>
        <p:spPr>
          <a:xfrm>
            <a:off x="1295400" y="10419889"/>
            <a:ext cx="11170806" cy="2359074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AWS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클라우드 상에서 </a:t>
            </a:r>
            <a:r>
              <a:rPr lang="en-US" altLang="ko-KR" sz="2000" spc="-96" dirty="0" err="1">
                <a:latin typeface="Gmarket Sans Medium" panose="020B0600000101010101" charset="-127"/>
                <a:ea typeface="Gmarket Sans Medium" panose="020B0600000101010101" charset="-127"/>
              </a:rPr>
              <a:t>VDI·WEB·AI·Logging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전 구성 요소를 통합 아키텍처로 완성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각 구성요소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(VDI·WEB·AI)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를 </a:t>
            </a:r>
            <a:r>
              <a:rPr lang="ko-KR" altLang="en-US" sz="2000" spc="-96" dirty="0">
                <a:latin typeface="Gmarket Sans Bold" panose="020B0600000101010101" charset="-127"/>
                <a:ea typeface="Gmarket Sans Bold" panose="020B0600000101010101" charset="-127"/>
              </a:rPr>
              <a:t>모듈 단위로 병렬 구축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통합 테스트 시 인터페이스 표준화 진행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ko-KR" altLang="en-US" sz="2000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Kendra + Bedrock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연동을 통해 실제 문서 질의 응답 시연 성공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로그 파이프라인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(CloudWatch → Firehose → S3 → Athena)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을 통한 데이터 흐름 검증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공통 파라미터를 </a:t>
            </a:r>
            <a:r>
              <a:rPr lang="en-US" altLang="ko-KR" sz="2000" spc="-96" dirty="0">
                <a:latin typeface="Gmarket Sans Bold" panose="020B0600000101010101" charset="-127"/>
                <a:ea typeface="Gmarket Sans Bold" panose="020B0600000101010101" charset="-127"/>
              </a:rPr>
              <a:t>SSM Parameter Store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로 관리해 환경 변수 충돌을 예방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pic>
        <p:nvPicPr>
          <p:cNvPr id="6" name="그림 개체 틀 20">
            <a:extLst>
              <a:ext uri="{FF2B5EF4-FFF2-40B4-BE49-F238E27FC236}">
                <a16:creationId xmlns:a16="http://schemas.microsoft.com/office/drawing/2014/main" id="{A0E0137B-DFE8-634D-662C-E92371BB1F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3" t="-1372" r="163" b="-300"/>
          <a:stretch>
            <a:fillRect/>
          </a:stretch>
        </p:blipFill>
        <p:spPr>
          <a:xfrm>
            <a:off x="11599144" y="3127796"/>
            <a:ext cx="12134786" cy="851430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1A5B8FF4-99E1-5039-78F1-AFB3165CE156}"/>
              </a:ext>
            </a:extLst>
          </p:cNvPr>
          <p:cNvSpPr txBox="1"/>
          <p:nvPr/>
        </p:nvSpPr>
        <p:spPr>
          <a:xfrm>
            <a:off x="11379200" y="2427986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아키텍처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D2F75A8-9EA1-2C09-72E9-99A87E002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72" y="6858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2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C0C81-D527-3EB5-ED6C-2F877187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4C768F09-77C8-2F54-09E7-6FDF438D6B07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custGeom>
            <a:avLst/>
            <a:gdLst>
              <a:gd name="connsiteX0" fmla="*/ 360600 w 24384000"/>
              <a:gd name="connsiteY0" fmla="*/ 360000 h 13716000"/>
              <a:gd name="connsiteX1" fmla="*/ 360600 w 24384000"/>
              <a:gd name="connsiteY1" fmla="*/ 13356000 h 13716000"/>
              <a:gd name="connsiteX2" fmla="*/ 24023400 w 24384000"/>
              <a:gd name="connsiteY2" fmla="*/ 13356000 h 13716000"/>
              <a:gd name="connsiteX3" fmla="*/ 24023400 w 24384000"/>
              <a:gd name="connsiteY3" fmla="*/ 360000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360600" y="360000"/>
                </a:moveTo>
                <a:lnTo>
                  <a:pt x="360600" y="13356000"/>
                </a:lnTo>
                <a:lnTo>
                  <a:pt x="24023400" y="13356000"/>
                </a:lnTo>
                <a:lnTo>
                  <a:pt x="24023400" y="360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A49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F0B17CA-2831-A6FD-6A6E-00327B54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2095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62C8056-74FD-33DF-A981-1D452346B826}"/>
              </a:ext>
            </a:extLst>
          </p:cNvPr>
          <p:cNvSpPr txBox="1"/>
          <p:nvPr/>
        </p:nvSpPr>
        <p:spPr>
          <a:xfrm>
            <a:off x="7797927" y="614172"/>
            <a:ext cx="16814800" cy="8763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 err="1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메가존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클라우드 전문가 양성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과정 중 수행한 팀 프로젝트로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lvl="0">
              <a:lnSpc>
                <a:spcPct val="123669"/>
              </a:lnSpc>
            </a:pP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AWS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클라우드를 활용한 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VDI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서비스 및 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AI 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기능 통합 환경을 구축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8ACC7B3-010E-DE70-A57B-A47B30BF4A45}"/>
              </a:ext>
            </a:extLst>
          </p:cNvPr>
          <p:cNvSpPr txBox="1"/>
          <p:nvPr/>
        </p:nvSpPr>
        <p:spPr>
          <a:xfrm>
            <a:off x="1054100" y="2667000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핵심 요소</a:t>
            </a:r>
            <a:r>
              <a:rPr lang="en-US" altLang="ko-KR" sz="3600" spc="-88" dirty="0">
                <a:solidFill>
                  <a:srgbClr val="2A49E8"/>
                </a:solidFill>
                <a:ea typeface="Gmarket Sans Bold"/>
              </a:rPr>
              <a:t>(</a:t>
            </a:r>
            <a:r>
              <a:rPr lang="ko-KR" altLang="en-US" sz="3600" spc="-88" dirty="0" err="1">
                <a:solidFill>
                  <a:srgbClr val="2A49E8"/>
                </a:solidFill>
                <a:ea typeface="Gmarket Sans Bold"/>
              </a:rPr>
              <a:t>기술스택</a:t>
            </a:r>
            <a:r>
              <a:rPr lang="en-US" altLang="ko-KR" sz="3600" spc="-88" dirty="0">
                <a:solidFill>
                  <a:srgbClr val="2A49E8"/>
                </a:solidFill>
                <a:ea typeface="Gmarket Sans Bold"/>
              </a:rPr>
              <a:t>)</a:t>
            </a:r>
            <a:endParaRPr lang="ko-KR" altLang="ko-KR" sz="3600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B815720F-5E7F-6922-17C1-9A27E2273664}"/>
              </a:ext>
            </a:extLst>
          </p:cNvPr>
          <p:cNvSpPr txBox="1"/>
          <p:nvPr/>
        </p:nvSpPr>
        <p:spPr>
          <a:xfrm>
            <a:off x="2362200" y="400716"/>
            <a:ext cx="5207000" cy="495300"/>
          </a:xfrm>
          <a:prstGeom prst="rect">
            <a:avLst/>
          </a:prstGeom>
        </p:spPr>
        <p:txBody>
          <a:bodyPr lIns="0" tIns="35293" rIns="0" bIns="35293" rtlCol="0" anchor="ctr"/>
          <a:lstStyle/>
          <a:p>
            <a:pPr lvl="0">
              <a:lnSpc>
                <a:spcPct val="99600"/>
              </a:lnSpc>
            </a:pP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Project </a:t>
            </a:r>
            <a:r>
              <a:rPr lang="en" altLang="ko-KR" sz="2778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Side</a:t>
            </a: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 2</a:t>
            </a:r>
          </a:p>
        </p:txBody>
      </p:sp>
      <p:pic>
        <p:nvPicPr>
          <p:cNvPr id="28" name="Picture 8">
            <a:extLst>
              <a:ext uri="{FF2B5EF4-FFF2-40B4-BE49-F238E27FC236}">
                <a16:creationId xmlns:a16="http://schemas.microsoft.com/office/drawing/2014/main" id="{B2D30279-D004-7C93-4D60-14E1B5567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22" y="185133"/>
            <a:ext cx="1714500" cy="1689100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73C87347-478C-B990-60FC-BA179A475751}"/>
              </a:ext>
            </a:extLst>
          </p:cNvPr>
          <p:cNvSpPr txBox="1"/>
          <p:nvPr/>
        </p:nvSpPr>
        <p:spPr>
          <a:xfrm>
            <a:off x="2630011" y="937037"/>
            <a:ext cx="4481735" cy="889000"/>
          </a:xfrm>
          <a:prstGeom prst="rect">
            <a:avLst/>
          </a:prstGeom>
        </p:spPr>
        <p:txBody>
          <a:bodyPr lIns="0" tIns="63762" rIns="0" bIns="63762" rtlCol="0" anchor="ctr"/>
          <a:lstStyle/>
          <a:p>
            <a:pPr lvl="0">
              <a:lnSpc>
                <a:spcPct val="99600"/>
              </a:lnSpc>
            </a:pPr>
            <a:r>
              <a:rPr lang="en" altLang="ko-KR" sz="5020" dirty="0">
                <a:solidFill>
                  <a:srgbClr val="FFFFFF"/>
                </a:solidFill>
                <a:latin typeface="Gmarket Sans Bold"/>
              </a:rPr>
              <a:t>AWS Cloud</a:t>
            </a:r>
          </a:p>
        </p:txBody>
      </p:sp>
      <p:sp>
        <p:nvSpPr>
          <p:cNvPr id="8" name="사각형: 둥근 모서리 7">
            <a:hlinkClick r:id="rId5"/>
            <a:extLst>
              <a:ext uri="{FF2B5EF4-FFF2-40B4-BE49-F238E27FC236}">
                <a16:creationId xmlns:a16="http://schemas.microsoft.com/office/drawing/2014/main" id="{260C60A1-9D85-B389-2AC8-1E05D0110EAA}"/>
              </a:ext>
            </a:extLst>
          </p:cNvPr>
          <p:cNvSpPr/>
          <p:nvPr/>
        </p:nvSpPr>
        <p:spPr>
          <a:xfrm>
            <a:off x="20128458" y="613446"/>
            <a:ext cx="3048822" cy="889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Gmarket Sans Bold" panose="020B0600000101010101" charset="-127"/>
                <a:ea typeface="Gmarket Sans Bold" panose="020B0600000101010101" charset="-127"/>
              </a:rPr>
              <a:t>발표용 </a:t>
            </a:r>
            <a:r>
              <a:rPr lang="en-US" altLang="ko-KR" sz="3600" dirty="0">
                <a:latin typeface="Gmarket Sans Bold" panose="020B0600000101010101" charset="-127"/>
                <a:ea typeface="Gmarket Sans Bold" panose="020B0600000101010101" charset="-127"/>
              </a:rPr>
              <a:t>PPT </a:t>
            </a:r>
            <a:endParaRPr lang="ko-KR" altLang="en-US" sz="3600" dirty="0"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020CD57-325D-65D4-C3FA-C85DBA0ED744}"/>
              </a:ext>
            </a:extLst>
          </p:cNvPr>
          <p:cNvSpPr txBox="1"/>
          <p:nvPr/>
        </p:nvSpPr>
        <p:spPr>
          <a:xfrm>
            <a:off x="1295400" y="3323333"/>
            <a:ext cx="10103394" cy="9455629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>
              <a:lnSpc>
                <a:spcPct val="123669"/>
              </a:lnSpc>
              <a:buFont typeface="Arial" panose="020B0604020202020204" pitchFamily="34" charset="0"/>
              <a:buChar char="•"/>
            </a:pP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VDI </a:t>
            </a:r>
            <a:r>
              <a:rPr lang="ko-KR" altLang="en-US" sz="2399" spc="-96" dirty="0">
                <a:latin typeface="Gmarket Sans Bold" panose="020B0600000101010101" charset="-127"/>
                <a:ea typeface="Gmarket Sans Bold" panose="020B0600000101010101" charset="-127"/>
              </a:rPr>
              <a:t>환경 구성 </a:t>
            </a: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pc="-96" dirty="0" err="1">
                <a:latin typeface="Gmarket Sans Medium" panose="020B0600000101010101" charset="-127"/>
                <a:ea typeface="Gmarket Sans Medium" panose="020B0600000101010101" charset="-127"/>
              </a:rPr>
              <a:t>WorkSpaces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· Managed Microsoft AD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계정 통합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en-US" altLang="ko-KR" spc="-96" dirty="0" err="1">
                <a:latin typeface="Gmarket Sans Medium" panose="020B0600000101010101" charset="-127"/>
                <a:ea typeface="Gmarket Sans Medium" panose="020B0600000101010101" charset="-127"/>
              </a:rPr>
              <a:t>FreeRADIUS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+ </a:t>
            </a:r>
            <a:r>
              <a:rPr lang="en-US" altLang="ko-KR" spc="-96" dirty="0" err="1">
                <a:latin typeface="Gmarket Sans Medium" panose="020B0600000101010101" charset="-127"/>
                <a:ea typeface="Gmarket Sans Medium" panose="020B0600000101010101" charset="-127"/>
              </a:rPr>
              <a:t>LinOTP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MFA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인증 체계 구현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pc="-96" dirty="0" err="1">
                <a:latin typeface="Gmarket Sans Medium" panose="020B0600000101010101" charset="-127"/>
                <a:ea typeface="Gmarket Sans Medium" panose="020B0600000101010101" charset="-127"/>
              </a:rPr>
              <a:t>FSx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+ Storage Gateway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를 연동하여 내부 파일시스템 공유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 SSM Parameter Store </a:t>
            </a:r>
            <a:r>
              <a:rPr lang="ko-KR" altLang="en-US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통한 경로 정보 일괄 관리</a:t>
            </a:r>
            <a:endParaRPr lang="en-US" altLang="ko-KR" spc="-96" dirty="0">
              <a:highlight>
                <a:srgbClr val="FFFF00"/>
              </a:highlight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1">
              <a:lnSpc>
                <a:spcPct val="123669"/>
              </a:lnSpc>
            </a:pPr>
            <a:endParaRPr lang="en-US" altLang="ko-KR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23669"/>
              </a:lnSpc>
              <a:buFont typeface="Arial" panose="020B0604020202020204" pitchFamily="34" charset="0"/>
              <a:buChar char="•"/>
            </a:pPr>
            <a:r>
              <a:rPr lang="ko-KR" altLang="en-US" sz="2399" spc="-96" dirty="0">
                <a:latin typeface="Gmarket Sans Bold" panose="020B0600000101010101" charset="-127"/>
                <a:ea typeface="Gmarket Sans Bold" panose="020B0600000101010101" charset="-127"/>
              </a:rPr>
              <a:t>사내</a:t>
            </a: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altLang="en-US" sz="2399" spc="-96" dirty="0">
                <a:latin typeface="Gmarket Sans Bold" panose="020B0600000101010101" charset="-127"/>
                <a:ea typeface="Gmarket Sans Bold" panose="020B0600000101010101" charset="-127"/>
              </a:rPr>
              <a:t>웹 환경 구성 </a:t>
            </a:r>
            <a:r>
              <a:rPr lang="en-US" altLang="ko-KR" sz="2399" spc="-96" dirty="0">
                <a:latin typeface="Gmarket Sans Bold" panose="020B0600000101010101" charset="-127"/>
                <a:ea typeface="Gmarket Sans Bold" panose="020B0600000101010101" charset="-127"/>
              </a:rPr>
              <a:t>:  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내부 전용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VPC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내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ALB–EC2–RDS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기반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3-Tier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구조 배치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 Peering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으로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VDI ↔ WEB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트래픽 제한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, NAT Gateway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및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VPC Endpoint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보안 강화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lvl="1">
              <a:lnSpc>
                <a:spcPct val="123669"/>
              </a:lnSpc>
            </a:pPr>
            <a:endParaRPr lang="en-US" altLang="ko-KR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23669"/>
              </a:lnSpc>
              <a:buFont typeface="Arial" panose="020B0604020202020204" pitchFamily="34" charset="0"/>
              <a:buChar char="•"/>
            </a:pPr>
            <a:r>
              <a:rPr lang="ko-KR" altLang="en-US" sz="2400" spc="-96" dirty="0">
                <a:latin typeface="Gmarket Sans Bold" panose="020B0600000101010101" charset="-127"/>
                <a:ea typeface="Gmarket Sans Bold" panose="020B0600000101010101" charset="-127"/>
              </a:rPr>
              <a:t>대외 </a:t>
            </a:r>
            <a:r>
              <a:rPr lang="ko-KR" altLang="en-US" sz="2399" spc="-96" dirty="0">
                <a:latin typeface="Gmarket Sans Bold" panose="020B0600000101010101" charset="-127"/>
                <a:ea typeface="Gmarket Sans Bold" panose="020B0600000101010101" charset="-127"/>
              </a:rPr>
              <a:t>웹 환경 구성 </a:t>
            </a:r>
            <a:r>
              <a:rPr lang="en-US" altLang="ko-KR" sz="2400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marL="800100" lvl="1" indent="-342900">
              <a:lnSpc>
                <a:spcPct val="123669"/>
              </a:lnSpc>
              <a:buFont typeface="Gmarket Sans Bold" panose="020B0600000101010101" charset="-127"/>
              <a:buChar char="━"/>
            </a:pPr>
            <a:r>
              <a:rPr lang="en-US" altLang="ko-KR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S3 + CloudFront + Route 53</a:t>
            </a:r>
            <a:r>
              <a:rPr lang="ko-KR" altLang="en-US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으로 정적 콘텐츠 전송</a:t>
            </a:r>
            <a:r>
              <a:rPr lang="en-US" altLang="ko-KR" spc="-96" dirty="0">
                <a:highlight>
                  <a:srgbClr val="FFFF00"/>
                </a:highlight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marL="800100" lvl="1" indent="-342900">
              <a:lnSpc>
                <a:spcPct val="123669"/>
              </a:lnSpc>
              <a:buFont typeface="Gmarket Sans Bold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API Gateway + Lambda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외부 요청 처리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, ACM + WAF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TLS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및 방어 체계 구성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lvl="0">
              <a:lnSpc>
                <a:spcPct val="123669"/>
              </a:lnSpc>
            </a:pPr>
            <a:endParaRPr lang="en-US" altLang="ko-KR" sz="2400" spc="-96" dirty="0">
              <a:latin typeface="Gmarket Sans Bold" panose="020B0600000101010101" charset="-127"/>
              <a:ea typeface="Gmarket Sans Bold" panose="020B0600000101010101" charset="-127"/>
            </a:endParaRPr>
          </a:p>
          <a:p>
            <a:pPr marL="342900" lvl="0" indent="-342900">
              <a:lnSpc>
                <a:spcPct val="123669"/>
              </a:lnSpc>
              <a:buFont typeface="Arial" panose="020B0604020202020204" pitchFamily="34" charset="0"/>
              <a:buChar char="•"/>
            </a:pP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구성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AI </a:t>
            </a: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구성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(</a:t>
            </a: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사내 ＲＡＧ 시스템 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. </a:t>
            </a: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문서 검색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·</a:t>
            </a:r>
            <a:r>
              <a:rPr lang="ko-KR" altLang="en-US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요약</a:t>
            </a:r>
            <a:r>
              <a:rPr lang="en-US" altLang="ko-KR" sz="2400" spc="-96" dirty="0">
                <a:highlight>
                  <a:srgbClr val="FFFF00"/>
                </a:highlight>
                <a:latin typeface="Gmarket Sans Bold" panose="020B0600000101010101" charset="-127"/>
                <a:ea typeface="Gmarket Sans Bold" panose="020B0600000101010101" charset="-127"/>
              </a:rPr>
              <a:t>)</a:t>
            </a:r>
            <a:r>
              <a:rPr lang="ko-KR" altLang="en-US" sz="2400" spc="-96" dirty="0"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en-US" altLang="ko-KR" sz="2400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MS Entra ID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를 통한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OAuth2.0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인증으로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M365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접근 권한 확보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Kendra Connector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Teams/OneDrive/Exchange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데이터를 인덱싱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Lambda + API Gateway + Bedrock(Claude 3.7)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으로 질의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–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요약 파이프라인 구축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Secrets Manager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를 이용해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Entra Token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및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API Key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안전 저장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>
              <a:lnSpc>
                <a:spcPct val="123669"/>
              </a:lnSpc>
            </a:pPr>
            <a:endParaRPr lang="en-US" altLang="ko-KR" sz="2000" spc="-96" dirty="0">
              <a:latin typeface="Gmarket Sans Bold" panose="020B0600000101010101" charset="-127"/>
              <a:ea typeface="Gmarket Sans Bold" panose="020B0600000101010101" charset="-127"/>
            </a:endParaRPr>
          </a:p>
          <a:p>
            <a:pPr marL="457200" indent="-457200">
              <a:lnSpc>
                <a:spcPct val="123669"/>
              </a:lnSpc>
              <a:buFont typeface="Arial" panose="020B0604020202020204" pitchFamily="34" charset="0"/>
              <a:buChar char="•"/>
            </a:pPr>
            <a:r>
              <a:rPr lang="ko-KR" altLang="en-US" sz="2800" spc="-96" dirty="0">
                <a:latin typeface="Gmarket Sans Bold" panose="020B0600000101010101" charset="-127"/>
                <a:ea typeface="Gmarket Sans Bold" panose="020B0600000101010101" charset="-127"/>
              </a:rPr>
              <a:t>로깅 및 운영 분석</a:t>
            </a:r>
            <a:endParaRPr lang="en-US" altLang="ko-KR" sz="2800" spc="-96" dirty="0">
              <a:latin typeface="Gmarket Sans Bold" panose="020B0600000101010101" charset="-127"/>
              <a:ea typeface="Gmarket Sans Bold" panose="020B0600000101010101" charset="-127"/>
            </a:endParaRP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CloudWatch Logs → Kinesis Firehose → S3 → Glue → Athena 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파이프라인 구성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로그 분석 결과를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CloudWatch Dashboard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에 시각화하고 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SNS/Chatbot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으로 알림 자동화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  <a:p>
            <a:pPr marL="800100" lvl="1" indent="-342900">
              <a:lnSpc>
                <a:spcPct val="123669"/>
              </a:lnSpc>
              <a:buFont typeface="Gmarket Sans Medium" panose="020B0600000101010101" charset="-127"/>
              <a:buChar char="━"/>
            </a:pP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CloudTrail + Backup Vault</a:t>
            </a:r>
            <a:r>
              <a:rPr lang="ko-KR" altLang="en-US" spc="-96" dirty="0">
                <a:latin typeface="Gmarket Sans Medium" panose="020B0600000101010101" charset="-127"/>
                <a:ea typeface="Gmarket Sans Medium" panose="020B0600000101010101" charset="-127"/>
              </a:rPr>
              <a:t>로 감사 추적 및 복구 정책 검증</a:t>
            </a:r>
            <a:r>
              <a:rPr lang="en-US" altLang="ko-KR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pic>
        <p:nvPicPr>
          <p:cNvPr id="3" name="그림 개체 틀 20">
            <a:extLst>
              <a:ext uri="{FF2B5EF4-FFF2-40B4-BE49-F238E27FC236}">
                <a16:creationId xmlns:a16="http://schemas.microsoft.com/office/drawing/2014/main" id="{86091BA2-0071-7919-E52C-B907132F5E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3" t="-1372" r="163" b="-300"/>
          <a:stretch>
            <a:fillRect/>
          </a:stretch>
        </p:blipFill>
        <p:spPr>
          <a:xfrm>
            <a:off x="11599144" y="3127796"/>
            <a:ext cx="12134786" cy="851430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3A10EE51-67D5-595B-F077-A1449532E0F3}"/>
              </a:ext>
            </a:extLst>
          </p:cNvPr>
          <p:cNvSpPr txBox="1"/>
          <p:nvPr/>
        </p:nvSpPr>
        <p:spPr>
          <a:xfrm>
            <a:off x="11379200" y="2427986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아키텍처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B9FF1B-BDD9-786F-7A52-83DB3F2380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72" y="6858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3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3921-5866-A68F-8B6B-E25ABF3C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332373EE-DEE5-AD4D-6A4D-AA4298B50D6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custGeom>
            <a:avLst/>
            <a:gdLst>
              <a:gd name="connsiteX0" fmla="*/ 360600 w 24384000"/>
              <a:gd name="connsiteY0" fmla="*/ 360000 h 13716000"/>
              <a:gd name="connsiteX1" fmla="*/ 360600 w 24384000"/>
              <a:gd name="connsiteY1" fmla="*/ 13356000 h 13716000"/>
              <a:gd name="connsiteX2" fmla="*/ 24023400 w 24384000"/>
              <a:gd name="connsiteY2" fmla="*/ 13356000 h 13716000"/>
              <a:gd name="connsiteX3" fmla="*/ 24023400 w 24384000"/>
              <a:gd name="connsiteY3" fmla="*/ 360000 h 13716000"/>
              <a:gd name="connsiteX4" fmla="*/ 0 w 24384000"/>
              <a:gd name="connsiteY4" fmla="*/ 0 h 13716000"/>
              <a:gd name="connsiteX5" fmla="*/ 24384000 w 24384000"/>
              <a:gd name="connsiteY5" fmla="*/ 0 h 13716000"/>
              <a:gd name="connsiteX6" fmla="*/ 24384000 w 24384000"/>
              <a:gd name="connsiteY6" fmla="*/ 13716000 h 13716000"/>
              <a:gd name="connsiteX7" fmla="*/ 0 w 24384000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84000" h="13716000">
                <a:moveTo>
                  <a:pt x="360600" y="360000"/>
                </a:moveTo>
                <a:lnTo>
                  <a:pt x="360600" y="13356000"/>
                </a:lnTo>
                <a:lnTo>
                  <a:pt x="24023400" y="13356000"/>
                </a:lnTo>
                <a:lnTo>
                  <a:pt x="24023400" y="360000"/>
                </a:lnTo>
                <a:close/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A49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1972876-102F-CE90-14FC-3D4FEEC21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2095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509A3951-51DA-C5EF-31F3-A5C550BB5EF7}"/>
              </a:ext>
            </a:extLst>
          </p:cNvPr>
          <p:cNvSpPr txBox="1"/>
          <p:nvPr/>
        </p:nvSpPr>
        <p:spPr>
          <a:xfrm>
            <a:off x="1645920" y="10553700"/>
            <a:ext cx="9283700" cy="13335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endParaRPr lang="en-US" sz="2399" b="0" i="0" u="none" strike="noStrike" spc="-96" dirty="0">
              <a:solidFill>
                <a:srgbClr val="787878"/>
              </a:solidFill>
              <a:latin typeface="Gmarket Sans Medium"/>
            </a:endParaRPr>
          </a:p>
        </p:txBody>
      </p:sp>
      <p:pic>
        <p:nvPicPr>
          <p:cNvPr id="29" name="그림 개체 틀 12">
            <a:extLst>
              <a:ext uri="{FF2B5EF4-FFF2-40B4-BE49-F238E27FC236}">
                <a16:creationId xmlns:a16="http://schemas.microsoft.com/office/drawing/2014/main" id="{A75D9B7E-FB24-BD14-7FB0-B71BC70F0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" t="361" r="-226" b="-879"/>
          <a:stretch>
            <a:fillRect/>
          </a:stretch>
        </p:blipFill>
        <p:spPr>
          <a:xfrm>
            <a:off x="11599144" y="3124200"/>
            <a:ext cx="12134786" cy="78905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244E84AA-3340-749C-9B08-0EFEB339E47E}"/>
              </a:ext>
            </a:extLst>
          </p:cNvPr>
          <p:cNvSpPr txBox="1"/>
          <p:nvPr/>
        </p:nvSpPr>
        <p:spPr>
          <a:xfrm>
            <a:off x="2630011" y="974723"/>
            <a:ext cx="4481735" cy="889000"/>
          </a:xfrm>
          <a:prstGeom prst="rect">
            <a:avLst/>
          </a:prstGeom>
        </p:spPr>
        <p:txBody>
          <a:bodyPr lIns="0" tIns="63762" rIns="0" bIns="63762" rtlCol="0" anchor="ctr"/>
          <a:lstStyle/>
          <a:p>
            <a:pPr lvl="0" algn="l">
              <a:lnSpc>
                <a:spcPct val="99600"/>
              </a:lnSpc>
            </a:pPr>
            <a:r>
              <a:rPr lang="en" sz="5020" dirty="0">
                <a:solidFill>
                  <a:srgbClr val="FFFFFF"/>
                </a:solidFill>
                <a:latin typeface="Gmarket Sans Bold"/>
              </a:rPr>
              <a:t>IoT &amp; AI</a:t>
            </a:r>
            <a:endParaRPr lang="en" sz="5020" b="0" i="0" u="none" strike="noStrike" dirty="0">
              <a:solidFill>
                <a:srgbClr val="FFFFFF"/>
              </a:solidFill>
              <a:latin typeface="Gmarket Sans Bold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F4D25BB9-7AC1-CAE5-888E-D8B7D56E3079}"/>
              </a:ext>
            </a:extLst>
          </p:cNvPr>
          <p:cNvSpPr txBox="1"/>
          <p:nvPr/>
        </p:nvSpPr>
        <p:spPr>
          <a:xfrm>
            <a:off x="2362200" y="400716"/>
            <a:ext cx="4876800" cy="495300"/>
          </a:xfrm>
          <a:prstGeom prst="rect">
            <a:avLst/>
          </a:prstGeom>
        </p:spPr>
        <p:txBody>
          <a:bodyPr lIns="0" tIns="35293" rIns="0" bIns="35293" rtlCol="0" anchor="ctr"/>
          <a:lstStyle/>
          <a:p>
            <a:pPr lvl="0">
              <a:lnSpc>
                <a:spcPct val="99600"/>
              </a:lnSpc>
            </a:pP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Project </a:t>
            </a:r>
            <a:r>
              <a:rPr lang="en" altLang="ko-KR" sz="2778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Side</a:t>
            </a:r>
            <a:r>
              <a:rPr lang="en" sz="2778" b="0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latin typeface="Gmarket Sans Bold"/>
              </a:rPr>
              <a:t> 3</a:t>
            </a:r>
          </a:p>
        </p:txBody>
      </p:sp>
      <p:pic>
        <p:nvPicPr>
          <p:cNvPr id="25" name="Picture 8">
            <a:extLst>
              <a:ext uri="{FF2B5EF4-FFF2-40B4-BE49-F238E27FC236}">
                <a16:creationId xmlns:a16="http://schemas.microsoft.com/office/drawing/2014/main" id="{940E97A2-E686-9185-A384-62F0BC44C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22" y="185133"/>
            <a:ext cx="1714500" cy="1689100"/>
          </a:xfrm>
          <a:prstGeom prst="rect">
            <a:avLst/>
          </a:prstGeom>
        </p:spPr>
      </p:pic>
      <p:sp>
        <p:nvSpPr>
          <p:cNvPr id="30" name="TextBox 9">
            <a:extLst>
              <a:ext uri="{FF2B5EF4-FFF2-40B4-BE49-F238E27FC236}">
                <a16:creationId xmlns:a16="http://schemas.microsoft.com/office/drawing/2014/main" id="{186B637F-11BD-D190-537A-90918E15E258}"/>
              </a:ext>
            </a:extLst>
          </p:cNvPr>
          <p:cNvSpPr txBox="1"/>
          <p:nvPr/>
        </p:nvSpPr>
        <p:spPr>
          <a:xfrm>
            <a:off x="11379200" y="2427986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3669"/>
              </a:lnSpc>
            </a:pP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아키텍처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236CA0D6-AC48-B7D0-1120-C4A779626C83}"/>
              </a:ext>
            </a:extLst>
          </p:cNvPr>
          <p:cNvSpPr txBox="1"/>
          <p:nvPr/>
        </p:nvSpPr>
        <p:spPr>
          <a:xfrm>
            <a:off x="1054100" y="2667000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b="0" i="0" u="none" strike="noStrike" spc="-88" dirty="0">
                <a:solidFill>
                  <a:srgbClr val="2A49E8"/>
                </a:solidFill>
                <a:ea typeface="Gmarket Sans Bold"/>
              </a:rPr>
              <a:t>프로젝트 소개 및 역할</a:t>
            </a:r>
            <a:endParaRPr lang="ko-KR" sz="3600" b="0" i="0" u="none" strike="noStrike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EF87CB6D-E2DF-3EAA-B753-A532F5FC60FA}"/>
              </a:ext>
            </a:extLst>
          </p:cNvPr>
          <p:cNvSpPr txBox="1"/>
          <p:nvPr/>
        </p:nvSpPr>
        <p:spPr>
          <a:xfrm>
            <a:off x="1054100" y="5641975"/>
            <a:ext cx="4737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defRPr/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en-US" altLang="ko-KR" sz="3600" b="1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Solution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029DAE57-237D-0DF4-91CF-B0DDCE385F2E}"/>
              </a:ext>
            </a:extLst>
          </p:cNvPr>
          <p:cNvSpPr txBox="1"/>
          <p:nvPr/>
        </p:nvSpPr>
        <p:spPr>
          <a:xfrm>
            <a:off x="1054100" y="10071100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프로젝트 결과 및</a:t>
            </a:r>
            <a:r>
              <a:rPr lang="en-US" altLang="ko-KR" sz="3600" spc="-88" dirty="0">
                <a:solidFill>
                  <a:srgbClr val="2A49E8"/>
                </a:solidFill>
                <a:ea typeface="Gmarket Sans Bold"/>
              </a:rPr>
              <a:t> </a:t>
            </a:r>
            <a:r>
              <a:rPr lang="ko-KR" altLang="en-US" sz="3600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성장  포인트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 </a:t>
            </a:r>
            <a:endParaRPr lang="ko-KR" altLang="ko-KR" sz="3600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55942E7D-249F-4BF4-B784-851D022F2D4E}"/>
              </a:ext>
            </a:extLst>
          </p:cNvPr>
          <p:cNvSpPr txBox="1"/>
          <p:nvPr/>
        </p:nvSpPr>
        <p:spPr>
          <a:xfrm>
            <a:off x="11586444" y="11137900"/>
            <a:ext cx="9309100" cy="5207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en-US" altLang="ko-KR" sz="3600" b="1" spc="-88" dirty="0">
                <a:solidFill>
                  <a:srgbClr val="2A49E8"/>
                </a:solidFill>
                <a:latin typeface="Gmarket Sans Bold" panose="020B0600000101010101" charset="-127"/>
                <a:ea typeface="Gmarket Sans Bold" panose="020B0600000101010101" charset="-127"/>
              </a:rPr>
              <a:t>‐</a:t>
            </a:r>
            <a:r>
              <a:rPr lang="ko-KR" altLang="en-US" sz="3600" spc="-88" dirty="0">
                <a:solidFill>
                  <a:srgbClr val="2A49E8"/>
                </a:solidFill>
                <a:ea typeface="Gmarket Sans Bold"/>
              </a:rPr>
              <a:t> 기술 스택</a:t>
            </a:r>
            <a:endParaRPr lang="ko-KR" altLang="ko-KR" sz="3600" spc="-88" dirty="0">
              <a:solidFill>
                <a:srgbClr val="2A49E8"/>
              </a:solidFill>
              <a:ea typeface="Gmarket Sans Bold"/>
            </a:endParaRPr>
          </a:p>
        </p:txBody>
      </p:sp>
      <p:sp>
        <p:nvSpPr>
          <p:cNvPr id="36" name="TextBox 37">
            <a:extLst>
              <a:ext uri="{FF2B5EF4-FFF2-40B4-BE49-F238E27FC236}">
                <a16:creationId xmlns:a16="http://schemas.microsoft.com/office/drawing/2014/main" id="{74810B57-874A-9ABA-379D-48B67D7D34CA}"/>
              </a:ext>
            </a:extLst>
          </p:cNvPr>
          <p:cNvSpPr txBox="1"/>
          <p:nvPr/>
        </p:nvSpPr>
        <p:spPr>
          <a:xfrm>
            <a:off x="1295400" y="3200400"/>
            <a:ext cx="9799206" cy="87330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주제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</a:t>
            </a:r>
          </a:p>
          <a:p>
            <a:pPr lvl="0" algn="l">
              <a:lnSpc>
                <a:spcPct val="123669"/>
              </a:lnSpc>
            </a:pP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잉여 전력 활용을 위한 태양광 발전 예측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+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수전해 제어 통합 시스템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r>
              <a:rPr lang="en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B60DD2-536D-3183-92FC-FC573CC14C95}"/>
              </a:ext>
            </a:extLst>
          </p:cNvPr>
          <p:cNvSpPr txBox="1"/>
          <p:nvPr/>
        </p:nvSpPr>
        <p:spPr>
          <a:xfrm>
            <a:off x="1295400" y="4073704"/>
            <a:ext cx="10029133" cy="87330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역할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</a:t>
            </a:r>
          </a:p>
          <a:p>
            <a:pPr lvl="0">
              <a:lnSpc>
                <a:spcPct val="123669"/>
              </a:lnSpc>
            </a:pPr>
            <a:r>
              <a:rPr lang="en-US" altLang="ko-KR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Raspberry Pi</a:t>
            </a:r>
            <a:r>
              <a:rPr lang="ko-KR" altLang="en-US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와 </a:t>
            </a:r>
            <a:r>
              <a:rPr lang="en-US" altLang="ko-KR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MCU</a:t>
            </a:r>
            <a:r>
              <a:rPr lang="ko-KR" altLang="en-US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이용</a:t>
            </a:r>
            <a:r>
              <a:rPr lang="en-US" altLang="ko-KR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altLang="en-US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웹서버 구동 및 각 모듈별 센서 데이터 수집 및 통합</a:t>
            </a:r>
            <a:r>
              <a:rPr lang="en-US" altLang="ko-KR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r>
              <a:rPr lang="en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952E8AE8-BD6E-C233-F15A-A88510307897}"/>
              </a:ext>
            </a:extLst>
          </p:cNvPr>
          <p:cNvSpPr txBox="1"/>
          <p:nvPr/>
        </p:nvSpPr>
        <p:spPr>
          <a:xfrm>
            <a:off x="1386725" y="6123626"/>
            <a:ext cx="9799206" cy="2848866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96" dirty="0">
                <a:latin typeface="Gmarket Sans Bold" panose="020B0600000101010101" charset="-127"/>
                <a:ea typeface="Gmarket Sans Bold" panose="020B0600000101010101" charset="-127"/>
              </a:rPr>
              <a:t>데이터 수집</a:t>
            </a:r>
            <a:r>
              <a:rPr lang="en-US" altLang="ko-KR" sz="2000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ESP8266 + INA219/BMP180/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토양수분 </a:t>
            </a:r>
            <a:endParaRPr lang="en-US" altLang="ko-KR" sz="2000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→ 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 Django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서버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96" dirty="0">
                <a:latin typeface="Gmarket Sans Bold" panose="020B0600000101010101" charset="-127"/>
                <a:ea typeface="Gmarket Sans Bold" panose="020B0600000101010101" charset="-127"/>
              </a:rPr>
              <a:t>동작 제어</a:t>
            </a:r>
            <a:r>
              <a:rPr lang="en-US" altLang="ko-KR" sz="2000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수전해 장치와 스마트 팜 피드백 구동 연동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96" dirty="0">
                <a:latin typeface="Gmarket Sans Bold" panose="020B0600000101010101" charset="-127"/>
                <a:ea typeface="Gmarket Sans Bold" panose="020B0600000101010101" charset="-127"/>
              </a:rPr>
              <a:t>예측</a:t>
            </a:r>
            <a:r>
              <a:rPr lang="en-US" altLang="ko-KR" sz="2000" spc="-96" dirty="0">
                <a:latin typeface="Gmarket Sans Bold" panose="020B0600000101010101" charset="-127"/>
                <a:ea typeface="Gmarket Sans Bold" panose="020B0600000101010101" charset="-127"/>
              </a:rPr>
              <a:t>/</a:t>
            </a:r>
            <a:r>
              <a:rPr lang="ko-KR" altLang="en-US" sz="2000" spc="-96" dirty="0">
                <a:latin typeface="Gmarket Sans Bold" panose="020B0600000101010101" charset="-127"/>
                <a:ea typeface="Gmarket Sans Bold" panose="020B0600000101010101" charset="-127"/>
              </a:rPr>
              <a:t>표시</a:t>
            </a:r>
            <a:r>
              <a:rPr lang="en-US" altLang="ko-KR" sz="2000" spc="-96" dirty="0">
                <a:latin typeface="Gmarket Sans Bold" panose="020B0600000101010101" charset="-127"/>
                <a:ea typeface="Gmarket Sans Bold" panose="020B0600000101010101" charset="-127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Simple RNN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기반 발전량 예측 </a:t>
            </a:r>
            <a:endParaRPr lang="en-US" altLang="ko-KR" sz="2000" spc="-96" dirty="0"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→ 웹 시각화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/PNG </a:t>
            </a:r>
            <a:r>
              <a:rPr lang="ko-KR" altLang="en-US" sz="2000" spc="-96" dirty="0">
                <a:latin typeface="Gmarket Sans Medium" panose="020B0600000101010101" charset="-127"/>
                <a:ea typeface="Gmarket Sans Medium" panose="020B0600000101010101" charset="-127"/>
              </a:rPr>
              <a:t>저장</a:t>
            </a:r>
            <a:r>
              <a:rPr lang="en-US" altLang="ko-KR" sz="2000" spc="-96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8AEAA6CC-3F6B-D9FE-9003-CAD791A2A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191" y="6739796"/>
            <a:ext cx="4691585" cy="28488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D16E569-B64A-FF92-EBA2-A76F86D642E4}"/>
              </a:ext>
            </a:extLst>
          </p:cNvPr>
          <p:cNvSpPr txBox="1"/>
          <p:nvPr/>
        </p:nvSpPr>
        <p:spPr>
          <a:xfrm>
            <a:off x="11963400" y="11781794"/>
            <a:ext cx="10029133" cy="87330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HW/IoT: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Raspberry Pi, ESP8266, INA219, BMP180 etc.</a:t>
            </a:r>
          </a:p>
          <a:p>
            <a:pPr>
              <a:lnSpc>
                <a:spcPct val="123669"/>
              </a:lnSpc>
            </a:pPr>
            <a:r>
              <a:rPr lang="en-US" altLang="ko-KR" sz="2200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SW/</a:t>
            </a:r>
            <a:r>
              <a:rPr lang="ko-KR" altLang="en-US" sz="2200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서버</a:t>
            </a:r>
            <a:r>
              <a:rPr lang="en-US" altLang="ko-KR" sz="2200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:</a:t>
            </a:r>
            <a:r>
              <a:rPr lang="ko-KR" altLang="en-US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Django, MariaDB, Python</a:t>
            </a:r>
          </a:p>
          <a:p>
            <a:pPr>
              <a:lnSpc>
                <a:spcPct val="123669"/>
              </a:lnSpc>
            </a:pPr>
            <a:r>
              <a:rPr lang="en-US" altLang="ko-KR" sz="2200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AI:</a:t>
            </a:r>
            <a:r>
              <a:rPr lang="ko-KR" altLang="en-US" sz="2200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Simple RNN/CNN(</a:t>
            </a:r>
            <a:r>
              <a:rPr lang="ko-KR" altLang="en-US" sz="2200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예측</a:t>
            </a:r>
            <a:r>
              <a:rPr lang="en-US" altLang="ko-KR" sz="2200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·</a:t>
            </a:r>
            <a:r>
              <a:rPr lang="ko-KR" altLang="en-US" sz="2200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평가</a:t>
            </a:r>
            <a:r>
              <a:rPr lang="en-US" altLang="ko-KR" sz="2200" spc="-56" dirty="0">
                <a:solidFill>
                  <a:srgbClr val="0F0F0E"/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: MAE/MSE)</a:t>
            </a:r>
          </a:p>
          <a:p>
            <a:pPr>
              <a:lnSpc>
                <a:spcPct val="123669"/>
              </a:lnSpc>
            </a:pPr>
            <a:endParaRPr lang="en-US" altLang="ko-KR" sz="2200" spc="-56" dirty="0">
              <a:solidFill>
                <a:srgbClr val="0F0F0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l">
              <a:lnSpc>
                <a:spcPct val="123669"/>
              </a:lnSpc>
            </a:pPr>
            <a:endParaRPr lang="en-US" altLang="ko-KR" sz="2200" b="0" i="0" u="none" strike="noStrike" spc="-56" dirty="0">
              <a:solidFill>
                <a:srgbClr val="0F0F0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648964-44C3-F57C-0359-5BFA382C27C0}"/>
              </a:ext>
            </a:extLst>
          </p:cNvPr>
          <p:cNvSpPr txBox="1"/>
          <p:nvPr/>
        </p:nvSpPr>
        <p:spPr>
          <a:xfrm>
            <a:off x="1295400" y="4999225"/>
            <a:ext cx="10029133" cy="45552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기능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실시간 표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·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대시보드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PNG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저장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·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메일 전송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en" sz="2200" b="0" i="0" u="none" strike="noStrike" spc="-56" dirty="0">
              <a:solidFill>
                <a:srgbClr val="0F0F0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129311-B710-F78B-462B-642B46F4B9EA}"/>
              </a:ext>
            </a:extLst>
          </p:cNvPr>
          <p:cNvSpPr txBox="1"/>
          <p:nvPr/>
        </p:nvSpPr>
        <p:spPr>
          <a:xfrm>
            <a:off x="1295400" y="10779027"/>
            <a:ext cx="10029133" cy="87330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기능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실시간 표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·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대시보드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PNG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저장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·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메일 전송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en" sz="2200" b="0" i="0" u="none" strike="noStrike" spc="-56" dirty="0">
              <a:solidFill>
                <a:srgbClr val="0F0F0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26CD2-D926-B3A1-6F7E-E661A455489F}"/>
              </a:ext>
            </a:extLst>
          </p:cNvPr>
          <p:cNvSpPr txBox="1"/>
          <p:nvPr/>
        </p:nvSpPr>
        <p:spPr>
          <a:xfrm>
            <a:off x="1295400" y="11538777"/>
            <a:ext cx="10029133" cy="873304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3669"/>
              </a:lnSpc>
            </a:pP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Bold" panose="020B0600000101010101" charset="-127"/>
                <a:ea typeface="Gmarket Sans Bold" panose="020B0600000101010101" charset="-127"/>
              </a:rPr>
              <a:t>수상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en-US" altLang="ko-KR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 </a:t>
            </a:r>
            <a:r>
              <a:rPr lang="ko-KR" altLang="en-US" sz="2200" b="0" i="0" u="none" strike="noStrike" spc="-56" dirty="0">
                <a:solidFill>
                  <a:srgbClr val="0F0F0E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우수 연구노트상</a:t>
            </a:r>
            <a:endParaRPr lang="en-US" altLang="ko-KR" sz="2200" b="0" i="0" u="none" strike="noStrike" spc="-56" dirty="0">
              <a:solidFill>
                <a:srgbClr val="0F0F0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FD0DFB91-0EBA-3C51-98D0-38E4854618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5" t="14225" r="18320" b="24067"/>
          <a:stretch>
            <a:fillRect/>
          </a:stretch>
        </p:blipFill>
        <p:spPr>
          <a:xfrm>
            <a:off x="1236472" y="614759"/>
            <a:ext cx="889164" cy="1080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05817BEC-6A2C-5C27-9462-606DDCE93A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54" y="793535"/>
            <a:ext cx="780290" cy="78029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18602C8-DBBD-42F5-38A6-4637BEEEED9E}"/>
              </a:ext>
            </a:extLst>
          </p:cNvPr>
          <p:cNvSpPr txBox="1"/>
          <p:nvPr/>
        </p:nvSpPr>
        <p:spPr>
          <a:xfrm>
            <a:off x="11829071" y="4334809"/>
            <a:ext cx="16814800" cy="8763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endParaRPr lang="en-US" altLang="ko-KR" sz="3200" spc="-96" dirty="0">
              <a:solidFill>
                <a:srgbClr val="FFFFFF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F7CCBF45-D57F-E7C0-3C5F-69A92B858DFA}"/>
              </a:ext>
            </a:extLst>
          </p:cNvPr>
          <p:cNvSpPr txBox="1"/>
          <p:nvPr/>
        </p:nvSpPr>
        <p:spPr>
          <a:xfrm>
            <a:off x="7797927" y="614172"/>
            <a:ext cx="16814800" cy="8763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23669"/>
              </a:lnSpc>
            </a:pP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대학교 졸업 작품 및 </a:t>
            </a:r>
            <a:r>
              <a:rPr lang="ko-KR" altLang="en-US" sz="2800" spc="-96" dirty="0" err="1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캡스톤</a:t>
            </a: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경진대회 제출 작품</a:t>
            </a:r>
            <a:r>
              <a:rPr lang="en-US" altLang="ko-KR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 </a:t>
            </a:r>
          </a:p>
          <a:p>
            <a:pPr lvl="1">
              <a:lnSpc>
                <a:spcPct val="123669"/>
              </a:lnSpc>
            </a:pPr>
            <a:r>
              <a:rPr lang="ko-KR" altLang="en-US" sz="2800" spc="-96" dirty="0">
                <a:solidFill>
                  <a:srgbClr val="FFFFFF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잉여 전력 활용을 위한 태양광 발전 예측 모델 비교 분석 </a:t>
            </a:r>
          </a:p>
        </p:txBody>
      </p:sp>
    </p:spTree>
    <p:extLst>
      <p:ext uri="{BB962C8B-B14F-4D97-AF65-F5344CB8AC3E}">
        <p14:creationId xmlns:p14="http://schemas.microsoft.com/office/powerpoint/2010/main" val="1401424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B60783E-CF6E-4080-B4EE-FE13E0F5100C}">
  <we:reference id="wa200007130" version="1.0.0.1" store="en-US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1043</Words>
  <Application>Microsoft Office PowerPoint</Application>
  <PresentationFormat>사용자 지정</PresentationFormat>
  <Paragraphs>170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Arial Narrow</vt:lpstr>
      <vt:lpstr>Gmarket Sans Medium</vt:lpstr>
      <vt:lpstr>Calibri</vt:lpstr>
      <vt:lpstr>Arial</vt:lpstr>
      <vt:lpstr>G마켓 산스 Light</vt:lpstr>
      <vt:lpstr>Gmarket Sans Bold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곽덕연</dc:creator>
  <cp:lastModifiedBy>덕연 곽</cp:lastModifiedBy>
  <cp:revision>27</cp:revision>
  <dcterms:created xsi:type="dcterms:W3CDTF">2006-08-16T00:00:00Z</dcterms:created>
  <dcterms:modified xsi:type="dcterms:W3CDTF">2025-11-27T22:19:06Z</dcterms:modified>
</cp:coreProperties>
</file>